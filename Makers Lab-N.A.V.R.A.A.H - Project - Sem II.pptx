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2"/>
  </p:notesMasterIdLst>
  <p:sldIdLst>
    <p:sldId id="256" r:id="rId3"/>
    <p:sldId id="257" r:id="rId4"/>
    <p:sldId id="277" r:id="rId5"/>
    <p:sldId id="258" r:id="rId6"/>
    <p:sldId id="259" r:id="rId7"/>
    <p:sldId id="260" r:id="rId8"/>
    <p:sldId id="261" r:id="rId9"/>
    <p:sldId id="268" r:id="rId10"/>
    <p:sldId id="269" r:id="rId11"/>
    <p:sldId id="270" r:id="rId12"/>
    <p:sldId id="278" r:id="rId13"/>
    <p:sldId id="271" r:id="rId14"/>
    <p:sldId id="272" r:id="rId15"/>
    <p:sldId id="273" r:id="rId16"/>
    <p:sldId id="274" r:id="rId17"/>
    <p:sldId id="275" r:id="rId18"/>
    <p:sldId id="266" r:id="rId19"/>
    <p:sldId id="276" r:id="rId20"/>
    <p:sldId id="267" r:id="rId21"/>
  </p:sldIdLst>
  <p:sldSz cx="9144000" cy="5143500" type="screen16x9"/>
  <p:notesSz cx="6858000" cy="9144000"/>
  <p:embeddedFontLst>
    <p:embeddedFont>
      <p:font typeface="Nunito Sans" pitchFamily="2" charset="0"/>
      <p:regular r:id="rId23"/>
      <p:bold r:id="rId24"/>
      <p:italic r:id="rId25"/>
      <p:boldItalic r:id="rId26"/>
    </p:embeddedFont>
    <p:embeddedFont>
      <p:font typeface="Play" panose="020B0604020202020204" charset="0"/>
      <p:regular r:id="rId27"/>
      <p:bold r:id="rId28"/>
    </p:embeddedFont>
    <p:embeddedFont>
      <p:font typeface="Poppins" panose="000005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16C3E8-A3B4-4CAE-A72B-9407BAFACDD6}">
  <a:tblStyle styleId="{8B16C3E8-A3B4-4CAE-A72B-9407BAFACDD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bc8ef7e2e2_3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3bc8ef7e2e2_3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bc8ef7e2e2_3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8" name="Google Shape;138;g3bc8ef7e2e2_3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09D1F6EA-EE29-C9CA-48E2-7115CC72A881}"/>
            </a:ext>
          </a:extLst>
        </p:cNvPr>
        <p:cNvGrpSpPr/>
        <p:nvPr/>
      </p:nvGrpSpPr>
      <p:grpSpPr>
        <a:xfrm>
          <a:off x="0" y="0"/>
          <a:ext cx="0" cy="0"/>
          <a:chOff x="0" y="0"/>
          <a:chExt cx="0" cy="0"/>
        </a:xfrm>
      </p:grpSpPr>
      <p:sp>
        <p:nvSpPr>
          <p:cNvPr id="137" name="Google Shape;137;g3bc8ef7e2e2_3_93:notes">
            <a:extLst>
              <a:ext uri="{FF2B5EF4-FFF2-40B4-BE49-F238E27FC236}">
                <a16:creationId xmlns:a16="http://schemas.microsoft.com/office/drawing/2014/main" id="{D055190E-79BA-D5F8-E634-CE3B59DB0D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8" name="Google Shape;138;g3bc8ef7e2e2_3_93:notes">
            <a:extLst>
              <a:ext uri="{FF2B5EF4-FFF2-40B4-BE49-F238E27FC236}">
                <a16:creationId xmlns:a16="http://schemas.microsoft.com/office/drawing/2014/main" id="{6AE63A0A-6536-1253-D265-0238727AA4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9306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bc8b057dd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3" name="Google Shape;153;g3bc8b057dd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bc8b057dd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5" name="Google Shape;165;g3bc8b057dd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bc8b057dd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7" name="Google Shape;177;g3bc8b057dd2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bc8b057dd2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9" name="Google Shape;189;g3bc8b057dd2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2B76FB4C-82D8-FB00-D2C4-E63662096A31}"/>
            </a:ext>
          </a:extLst>
        </p:cNvPr>
        <p:cNvGrpSpPr/>
        <p:nvPr/>
      </p:nvGrpSpPr>
      <p:grpSpPr>
        <a:xfrm>
          <a:off x="0" y="0"/>
          <a:ext cx="0" cy="0"/>
          <a:chOff x="0" y="0"/>
          <a:chExt cx="0" cy="0"/>
        </a:xfrm>
      </p:grpSpPr>
      <p:sp>
        <p:nvSpPr>
          <p:cNvPr id="188" name="Google Shape;188;g3bc8b057dd2_0_48:notes">
            <a:extLst>
              <a:ext uri="{FF2B5EF4-FFF2-40B4-BE49-F238E27FC236}">
                <a16:creationId xmlns:a16="http://schemas.microsoft.com/office/drawing/2014/main" id="{EF1C9BA1-2BE4-98ED-6B02-EA9558C8B2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9" name="Google Shape;189;g3bc8b057dd2_0_48:notes">
            <a:extLst>
              <a:ext uri="{FF2B5EF4-FFF2-40B4-BE49-F238E27FC236}">
                <a16:creationId xmlns:a16="http://schemas.microsoft.com/office/drawing/2014/main" id="{BFF535E0-F177-BAC7-9D89-1BF80D8F4B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55499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34DCF30D-09DF-C46D-1211-CF42F7B44BEF}"/>
            </a:ext>
          </a:extLst>
        </p:cNvPr>
        <p:cNvGrpSpPr/>
        <p:nvPr/>
      </p:nvGrpSpPr>
      <p:grpSpPr>
        <a:xfrm>
          <a:off x="0" y="0"/>
          <a:ext cx="0" cy="0"/>
          <a:chOff x="0" y="0"/>
          <a:chExt cx="0" cy="0"/>
        </a:xfrm>
      </p:grpSpPr>
      <p:sp>
        <p:nvSpPr>
          <p:cNvPr id="188" name="Google Shape;188;g3bc8b057dd2_0_48:notes">
            <a:extLst>
              <a:ext uri="{FF2B5EF4-FFF2-40B4-BE49-F238E27FC236}">
                <a16:creationId xmlns:a16="http://schemas.microsoft.com/office/drawing/2014/main" id="{EEBEB0A1-6900-0241-8E24-F8EA9B1A6C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9" name="Google Shape;189;g3bc8b057dd2_0_48:notes">
            <a:extLst>
              <a:ext uri="{FF2B5EF4-FFF2-40B4-BE49-F238E27FC236}">
                <a16:creationId xmlns:a16="http://schemas.microsoft.com/office/drawing/2014/main" id="{4846EF51-86C8-39BF-2468-1A0D43AC43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0700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5F7045EB-2C9A-DD51-D6A8-67E227DFD868}"/>
            </a:ext>
          </a:extLst>
        </p:cNvPr>
        <p:cNvGrpSpPr/>
        <p:nvPr/>
      </p:nvGrpSpPr>
      <p:grpSpPr>
        <a:xfrm>
          <a:off x="0" y="0"/>
          <a:ext cx="0" cy="0"/>
          <a:chOff x="0" y="0"/>
          <a:chExt cx="0" cy="0"/>
        </a:xfrm>
      </p:grpSpPr>
      <p:sp>
        <p:nvSpPr>
          <p:cNvPr id="188" name="Google Shape;188;g3bc8b057dd2_0_48:notes">
            <a:extLst>
              <a:ext uri="{FF2B5EF4-FFF2-40B4-BE49-F238E27FC236}">
                <a16:creationId xmlns:a16="http://schemas.microsoft.com/office/drawing/2014/main" id="{8EF7430C-5D6C-357E-9D77-686F580DB9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g3bc8b057dd2_0_48:notes">
            <a:extLst>
              <a:ext uri="{FF2B5EF4-FFF2-40B4-BE49-F238E27FC236}">
                <a16:creationId xmlns:a16="http://schemas.microsoft.com/office/drawing/2014/main" id="{68567974-8B28-A856-9386-9717B1A8CD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3890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82AFD902-259B-369C-42CA-16F8329814F6}"/>
            </a:ext>
          </a:extLst>
        </p:cNvPr>
        <p:cNvGrpSpPr/>
        <p:nvPr/>
      </p:nvGrpSpPr>
      <p:grpSpPr>
        <a:xfrm>
          <a:off x="0" y="0"/>
          <a:ext cx="0" cy="0"/>
          <a:chOff x="0" y="0"/>
          <a:chExt cx="0" cy="0"/>
        </a:xfrm>
      </p:grpSpPr>
      <p:sp>
        <p:nvSpPr>
          <p:cNvPr id="188" name="Google Shape;188;g3bc8b057dd2_0_48:notes">
            <a:extLst>
              <a:ext uri="{FF2B5EF4-FFF2-40B4-BE49-F238E27FC236}">
                <a16:creationId xmlns:a16="http://schemas.microsoft.com/office/drawing/2014/main" id="{B6CDF012-B3C9-C5EB-C1F1-EDFEDD5A10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g3bc8b057dd2_0_48:notes">
            <a:extLst>
              <a:ext uri="{FF2B5EF4-FFF2-40B4-BE49-F238E27FC236}">
                <a16:creationId xmlns:a16="http://schemas.microsoft.com/office/drawing/2014/main" id="{1C81F002-232C-91C6-3A5A-39B684BC65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7921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7677A1EE-C8B8-24D0-B394-B5825DF858DE}"/>
            </a:ext>
          </a:extLst>
        </p:cNvPr>
        <p:cNvGrpSpPr/>
        <p:nvPr/>
      </p:nvGrpSpPr>
      <p:grpSpPr>
        <a:xfrm>
          <a:off x="0" y="0"/>
          <a:ext cx="0" cy="0"/>
          <a:chOff x="0" y="0"/>
          <a:chExt cx="0" cy="0"/>
        </a:xfrm>
      </p:grpSpPr>
      <p:sp>
        <p:nvSpPr>
          <p:cNvPr id="188" name="Google Shape;188;g3bc8b057dd2_0_48:notes">
            <a:extLst>
              <a:ext uri="{FF2B5EF4-FFF2-40B4-BE49-F238E27FC236}">
                <a16:creationId xmlns:a16="http://schemas.microsoft.com/office/drawing/2014/main" id="{4095F5C3-F6E4-DC4E-B305-BEC82D49E5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g3bc8b057dd2_0_48:notes">
            <a:extLst>
              <a:ext uri="{FF2B5EF4-FFF2-40B4-BE49-F238E27FC236}">
                <a16:creationId xmlns:a16="http://schemas.microsoft.com/office/drawing/2014/main" id="{610BE03A-2734-A265-5E84-C8756E6AAF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02361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88093723-6F1E-2BD1-98E4-DB2BB38528F7}"/>
            </a:ext>
          </a:extLst>
        </p:cNvPr>
        <p:cNvGrpSpPr/>
        <p:nvPr/>
      </p:nvGrpSpPr>
      <p:grpSpPr>
        <a:xfrm>
          <a:off x="0" y="0"/>
          <a:ext cx="0" cy="0"/>
          <a:chOff x="0" y="0"/>
          <a:chExt cx="0" cy="0"/>
        </a:xfrm>
      </p:grpSpPr>
      <p:sp>
        <p:nvSpPr>
          <p:cNvPr id="188" name="Google Shape;188;g3bc8b057dd2_0_48:notes">
            <a:extLst>
              <a:ext uri="{FF2B5EF4-FFF2-40B4-BE49-F238E27FC236}">
                <a16:creationId xmlns:a16="http://schemas.microsoft.com/office/drawing/2014/main" id="{5C23FD31-F016-7E10-1CEA-86B5CD36F6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g3bc8b057dd2_0_48:notes">
            <a:extLst>
              <a:ext uri="{FF2B5EF4-FFF2-40B4-BE49-F238E27FC236}">
                <a16:creationId xmlns:a16="http://schemas.microsoft.com/office/drawing/2014/main" id="{D264C442-5BC7-2283-9481-F1B5D1A20E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947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D3B8B070-8D2B-FDD4-1715-DFF779A86ED7}"/>
            </a:ext>
          </a:extLst>
        </p:cNvPr>
        <p:cNvGrpSpPr/>
        <p:nvPr/>
      </p:nvGrpSpPr>
      <p:grpSpPr>
        <a:xfrm>
          <a:off x="0" y="0"/>
          <a:ext cx="0" cy="0"/>
          <a:chOff x="0" y="0"/>
          <a:chExt cx="0" cy="0"/>
        </a:xfrm>
      </p:grpSpPr>
      <p:sp>
        <p:nvSpPr>
          <p:cNvPr id="188" name="Google Shape;188;g3bc8b057dd2_0_48:notes">
            <a:extLst>
              <a:ext uri="{FF2B5EF4-FFF2-40B4-BE49-F238E27FC236}">
                <a16:creationId xmlns:a16="http://schemas.microsoft.com/office/drawing/2014/main" id="{87FFB63C-3CD4-2AF0-810D-2E2BB48708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g3bc8b057dd2_0_48:notes">
            <a:extLst>
              <a:ext uri="{FF2B5EF4-FFF2-40B4-BE49-F238E27FC236}">
                <a16:creationId xmlns:a16="http://schemas.microsoft.com/office/drawing/2014/main" id="{5E2B1FE8-46CA-7FA0-1EEA-0C64951E50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04569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73EF3936-4EEC-C48C-4A41-FBDF4A9F9352}"/>
            </a:ext>
          </a:extLst>
        </p:cNvPr>
        <p:cNvGrpSpPr/>
        <p:nvPr/>
      </p:nvGrpSpPr>
      <p:grpSpPr>
        <a:xfrm>
          <a:off x="0" y="0"/>
          <a:ext cx="0" cy="0"/>
          <a:chOff x="0" y="0"/>
          <a:chExt cx="0" cy="0"/>
        </a:xfrm>
      </p:grpSpPr>
      <p:sp>
        <p:nvSpPr>
          <p:cNvPr id="188" name="Google Shape;188;g3bc8b057dd2_0_48:notes">
            <a:extLst>
              <a:ext uri="{FF2B5EF4-FFF2-40B4-BE49-F238E27FC236}">
                <a16:creationId xmlns:a16="http://schemas.microsoft.com/office/drawing/2014/main" id="{8DCC0BE3-78C6-E37B-A2DA-4FC3D0BEA2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g3bc8b057dd2_0_48:notes">
            <a:extLst>
              <a:ext uri="{FF2B5EF4-FFF2-40B4-BE49-F238E27FC236}">
                <a16:creationId xmlns:a16="http://schemas.microsoft.com/office/drawing/2014/main" id="{51395F27-3E3D-19B6-B3AC-9E898ADE57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9265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85E2E906-B04B-B465-DE2A-6FB4D4AFE15C}"/>
            </a:ext>
          </a:extLst>
        </p:cNvPr>
        <p:cNvGrpSpPr/>
        <p:nvPr/>
      </p:nvGrpSpPr>
      <p:grpSpPr>
        <a:xfrm>
          <a:off x="0" y="0"/>
          <a:ext cx="0" cy="0"/>
          <a:chOff x="0" y="0"/>
          <a:chExt cx="0" cy="0"/>
        </a:xfrm>
      </p:grpSpPr>
      <p:sp>
        <p:nvSpPr>
          <p:cNvPr id="188" name="Google Shape;188;g3bc8b057dd2_0_48:notes">
            <a:extLst>
              <a:ext uri="{FF2B5EF4-FFF2-40B4-BE49-F238E27FC236}">
                <a16:creationId xmlns:a16="http://schemas.microsoft.com/office/drawing/2014/main" id="{77CAD05F-8094-0A62-6A79-396700A3C8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g3bc8b057dd2_0_48:notes">
            <a:extLst>
              <a:ext uri="{FF2B5EF4-FFF2-40B4-BE49-F238E27FC236}">
                <a16:creationId xmlns:a16="http://schemas.microsoft.com/office/drawing/2014/main" id="{29A98198-9789-0B0E-6FC3-1B6D15244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1259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bc8b057dd2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50" name="Google Shape;250;g3bc8b057dd2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EC8204ED-6E1C-B74C-F464-E4E6C5BDB80D}"/>
            </a:ext>
          </a:extLst>
        </p:cNvPr>
        <p:cNvGrpSpPr/>
        <p:nvPr/>
      </p:nvGrpSpPr>
      <p:grpSpPr>
        <a:xfrm>
          <a:off x="0" y="0"/>
          <a:ext cx="0" cy="0"/>
          <a:chOff x="0" y="0"/>
          <a:chExt cx="0" cy="0"/>
        </a:xfrm>
      </p:grpSpPr>
      <p:sp>
        <p:nvSpPr>
          <p:cNvPr id="188" name="Google Shape;188;g3bc8b057dd2_0_48:notes">
            <a:extLst>
              <a:ext uri="{FF2B5EF4-FFF2-40B4-BE49-F238E27FC236}">
                <a16:creationId xmlns:a16="http://schemas.microsoft.com/office/drawing/2014/main" id="{79A14BC4-199F-4364-DAD6-DB2F8EACA5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g3bc8b057dd2_0_48:notes">
            <a:extLst>
              <a:ext uri="{FF2B5EF4-FFF2-40B4-BE49-F238E27FC236}">
                <a16:creationId xmlns:a16="http://schemas.microsoft.com/office/drawing/2014/main" id="{8FF4614D-B0F9-1991-CC4C-E6B898F92B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47362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bc8b057dd2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62" name="Google Shape;262;g3bc8b057dd2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58" name="Google Shape;58;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59" name="Google Shape;59;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8" name="Google Shape;68;p16"/>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9" name="Google Shape;69;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70" name="Google Shape;70;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71" name="Google Shape;71;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4" name="Google Shape;74;p17"/>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57575"/>
              </a:buClr>
              <a:buSzPts val="1800"/>
              <a:buNone/>
              <a:defRPr sz="1800">
                <a:solidFill>
                  <a:srgbClr val="757575"/>
                </a:solidFill>
              </a:defRPr>
            </a:lvl1pPr>
            <a:lvl2pPr marL="914400" lvl="1" indent="-228600" algn="l">
              <a:lnSpc>
                <a:spcPct val="90000"/>
              </a:lnSpc>
              <a:spcBef>
                <a:spcPts val="400"/>
              </a:spcBef>
              <a:spcAft>
                <a:spcPts val="0"/>
              </a:spcAft>
              <a:buClr>
                <a:srgbClr val="757575"/>
              </a:buClr>
              <a:buSzPts val="1500"/>
              <a:buNone/>
              <a:defRPr sz="1500">
                <a:solidFill>
                  <a:srgbClr val="757575"/>
                </a:solidFill>
              </a:defRPr>
            </a:lvl2pPr>
            <a:lvl3pPr marL="1371600" lvl="2" indent="-228600" algn="l">
              <a:lnSpc>
                <a:spcPct val="90000"/>
              </a:lnSpc>
              <a:spcBef>
                <a:spcPts val="400"/>
              </a:spcBef>
              <a:spcAft>
                <a:spcPts val="0"/>
              </a:spcAft>
              <a:buClr>
                <a:srgbClr val="757575"/>
              </a:buClr>
              <a:buSzPts val="1400"/>
              <a:buNone/>
              <a:defRPr sz="1400">
                <a:solidFill>
                  <a:srgbClr val="757575"/>
                </a:solidFill>
              </a:defRPr>
            </a:lvl3pPr>
            <a:lvl4pPr marL="1828800" lvl="3" indent="-228600" algn="l">
              <a:lnSpc>
                <a:spcPct val="90000"/>
              </a:lnSpc>
              <a:spcBef>
                <a:spcPts val="400"/>
              </a:spcBef>
              <a:spcAft>
                <a:spcPts val="0"/>
              </a:spcAft>
              <a:buClr>
                <a:srgbClr val="757575"/>
              </a:buClr>
              <a:buSzPts val="1200"/>
              <a:buNone/>
              <a:defRPr sz="1200">
                <a:solidFill>
                  <a:srgbClr val="757575"/>
                </a:solidFill>
              </a:defRPr>
            </a:lvl4pPr>
            <a:lvl5pPr marL="2286000" lvl="4" indent="-228600" algn="l">
              <a:lnSpc>
                <a:spcPct val="90000"/>
              </a:lnSpc>
              <a:spcBef>
                <a:spcPts val="400"/>
              </a:spcBef>
              <a:spcAft>
                <a:spcPts val="0"/>
              </a:spcAft>
              <a:buClr>
                <a:srgbClr val="757575"/>
              </a:buClr>
              <a:buSzPts val="1200"/>
              <a:buNone/>
              <a:defRPr sz="1200">
                <a:solidFill>
                  <a:srgbClr val="757575"/>
                </a:solidFill>
              </a:defRPr>
            </a:lvl5pPr>
            <a:lvl6pPr marL="2743200" lvl="5" indent="-228600" algn="l">
              <a:lnSpc>
                <a:spcPct val="90000"/>
              </a:lnSpc>
              <a:spcBef>
                <a:spcPts val="400"/>
              </a:spcBef>
              <a:spcAft>
                <a:spcPts val="0"/>
              </a:spcAft>
              <a:buClr>
                <a:srgbClr val="757575"/>
              </a:buClr>
              <a:buSzPts val="1200"/>
              <a:buNone/>
              <a:defRPr sz="1200">
                <a:solidFill>
                  <a:srgbClr val="757575"/>
                </a:solidFill>
              </a:defRPr>
            </a:lvl6pPr>
            <a:lvl7pPr marL="3200400" lvl="6" indent="-228600" algn="l">
              <a:lnSpc>
                <a:spcPct val="90000"/>
              </a:lnSpc>
              <a:spcBef>
                <a:spcPts val="400"/>
              </a:spcBef>
              <a:spcAft>
                <a:spcPts val="0"/>
              </a:spcAft>
              <a:buClr>
                <a:srgbClr val="757575"/>
              </a:buClr>
              <a:buSzPts val="1200"/>
              <a:buNone/>
              <a:defRPr sz="1200">
                <a:solidFill>
                  <a:srgbClr val="757575"/>
                </a:solidFill>
              </a:defRPr>
            </a:lvl7pPr>
            <a:lvl8pPr marL="3657600" lvl="7" indent="-228600" algn="l">
              <a:lnSpc>
                <a:spcPct val="90000"/>
              </a:lnSpc>
              <a:spcBef>
                <a:spcPts val="400"/>
              </a:spcBef>
              <a:spcAft>
                <a:spcPts val="0"/>
              </a:spcAft>
              <a:buClr>
                <a:srgbClr val="757575"/>
              </a:buClr>
              <a:buSzPts val="1200"/>
              <a:buNone/>
              <a:defRPr sz="1200">
                <a:solidFill>
                  <a:srgbClr val="757575"/>
                </a:solidFill>
              </a:defRPr>
            </a:lvl8pPr>
            <a:lvl9pPr marL="4114800" lvl="8" indent="-228600" algn="l">
              <a:lnSpc>
                <a:spcPct val="90000"/>
              </a:lnSpc>
              <a:spcBef>
                <a:spcPts val="400"/>
              </a:spcBef>
              <a:spcAft>
                <a:spcPts val="0"/>
              </a:spcAft>
              <a:buClr>
                <a:srgbClr val="757575"/>
              </a:buClr>
              <a:buSzPts val="1200"/>
              <a:buNone/>
              <a:defRPr sz="1200">
                <a:solidFill>
                  <a:srgbClr val="757575"/>
                </a:solidFill>
              </a:defRPr>
            </a:lvl9pPr>
          </a:lstStyle>
          <a:p>
            <a:endParaRPr/>
          </a:p>
        </p:txBody>
      </p:sp>
      <p:sp>
        <p:nvSpPr>
          <p:cNvPr id="75" name="Google Shape;75;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76" name="Google Shape;76;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77" name="Google Shape;77;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0" name="Google Shape;80;p18"/>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1" name="Google Shape;81;p18"/>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2" name="Google Shape;82;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83" name="Google Shape;83;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84" name="Google Shape;84;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7" name="Google Shape;87;p19"/>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8" name="Google Shape;88;p19"/>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9" name="Google Shape;89;p19"/>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0" name="Google Shape;90;p1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1" name="Google Shape;91;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92" name="Google Shape;92;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93" name="Google Shape;93;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6" name="Google Shape;96;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97" name="Google Shape;97;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98" name="Google Shape;98;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03" name="Google Shape;103;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04" name="Google Shape;104;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05" name="Google Shape;105;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22"/>
          <p:cNvSpPr>
            <a:spLocks noGrp="1"/>
          </p:cNvSpPr>
          <p:nvPr>
            <p:ph type="pic" idx="2"/>
          </p:nvPr>
        </p:nvSpPr>
        <p:spPr>
          <a:xfrm>
            <a:off x="3887391" y="740569"/>
            <a:ext cx="4629150" cy="3655219"/>
          </a:xfrm>
          <a:prstGeom prst="rect">
            <a:avLst/>
          </a:prstGeom>
          <a:noFill/>
          <a:ln>
            <a:noFill/>
          </a:ln>
        </p:spPr>
      </p:sp>
      <p:sp>
        <p:nvSpPr>
          <p:cNvPr id="109" name="Google Shape;109;p22"/>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0" name="Google Shape;110;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11" name="Google Shape;111;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12" name="Google Shape;112;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17" name="Google Shape;117;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18" name="Google Shape;118;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23" name="Google Shape;123;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24" name="Google Shape;124;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Play"/>
              <a:buNone/>
              <a:defRPr sz="3300" b="0" i="0" u="none" strike="noStrike" cap="non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dirty="0"/>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dirty="0"/>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757575"/>
                </a:solidFill>
                <a:latin typeface="Arial"/>
                <a:ea typeface="Arial"/>
                <a:cs typeface="Arial"/>
                <a:sym typeface="Arial"/>
              </a:defRPr>
            </a:lvl1pPr>
            <a:lvl2pPr marL="0" marR="0" lvl="1" indent="0" algn="r" rtl="0">
              <a:spcBef>
                <a:spcPts val="0"/>
              </a:spcBef>
              <a:buNone/>
              <a:defRPr sz="900" b="0" i="0" u="none" strike="noStrike" cap="none">
                <a:solidFill>
                  <a:srgbClr val="757575"/>
                </a:solidFill>
                <a:latin typeface="Arial"/>
                <a:ea typeface="Arial"/>
                <a:cs typeface="Arial"/>
                <a:sym typeface="Arial"/>
              </a:defRPr>
            </a:lvl2pPr>
            <a:lvl3pPr marL="0" marR="0" lvl="2" indent="0" algn="r" rtl="0">
              <a:spcBef>
                <a:spcPts val="0"/>
              </a:spcBef>
              <a:buNone/>
              <a:defRPr sz="900" b="0" i="0" u="none" strike="noStrike" cap="none">
                <a:solidFill>
                  <a:srgbClr val="757575"/>
                </a:solidFill>
                <a:latin typeface="Arial"/>
                <a:ea typeface="Arial"/>
                <a:cs typeface="Arial"/>
                <a:sym typeface="Arial"/>
              </a:defRPr>
            </a:lvl3pPr>
            <a:lvl4pPr marL="0" marR="0" lvl="3" indent="0" algn="r" rtl="0">
              <a:spcBef>
                <a:spcPts val="0"/>
              </a:spcBef>
              <a:buNone/>
              <a:defRPr sz="900" b="0" i="0" u="none" strike="noStrike" cap="none">
                <a:solidFill>
                  <a:srgbClr val="757575"/>
                </a:solidFill>
                <a:latin typeface="Arial"/>
                <a:ea typeface="Arial"/>
                <a:cs typeface="Arial"/>
                <a:sym typeface="Arial"/>
              </a:defRPr>
            </a:lvl4pPr>
            <a:lvl5pPr marL="0" marR="0" lvl="4" indent="0" algn="r" rtl="0">
              <a:spcBef>
                <a:spcPts val="0"/>
              </a:spcBef>
              <a:buNone/>
              <a:defRPr sz="900" b="0" i="0" u="none" strike="noStrike" cap="none">
                <a:solidFill>
                  <a:srgbClr val="757575"/>
                </a:solidFill>
                <a:latin typeface="Arial"/>
                <a:ea typeface="Arial"/>
                <a:cs typeface="Arial"/>
                <a:sym typeface="Arial"/>
              </a:defRPr>
            </a:lvl5pPr>
            <a:lvl6pPr marL="0" marR="0" lvl="5" indent="0" algn="r" rtl="0">
              <a:spcBef>
                <a:spcPts val="0"/>
              </a:spcBef>
              <a:buNone/>
              <a:defRPr sz="900" b="0" i="0" u="none" strike="noStrike" cap="none">
                <a:solidFill>
                  <a:srgbClr val="757575"/>
                </a:solidFill>
                <a:latin typeface="Arial"/>
                <a:ea typeface="Arial"/>
                <a:cs typeface="Arial"/>
                <a:sym typeface="Arial"/>
              </a:defRPr>
            </a:lvl6pPr>
            <a:lvl7pPr marL="0" marR="0" lvl="6" indent="0" algn="r" rtl="0">
              <a:spcBef>
                <a:spcPts val="0"/>
              </a:spcBef>
              <a:buNone/>
              <a:defRPr sz="900" b="0" i="0" u="none" strike="noStrike" cap="none">
                <a:solidFill>
                  <a:srgbClr val="757575"/>
                </a:solidFill>
                <a:latin typeface="Arial"/>
                <a:ea typeface="Arial"/>
                <a:cs typeface="Arial"/>
                <a:sym typeface="Arial"/>
              </a:defRPr>
            </a:lvl7pPr>
            <a:lvl8pPr marL="0" marR="0" lvl="7" indent="0" algn="r" rtl="0">
              <a:spcBef>
                <a:spcPts val="0"/>
              </a:spcBef>
              <a:buNone/>
              <a:defRPr sz="900" b="0" i="0" u="none" strike="noStrike" cap="none">
                <a:solidFill>
                  <a:srgbClr val="757575"/>
                </a:solidFill>
                <a:latin typeface="Arial"/>
                <a:ea typeface="Arial"/>
                <a:cs typeface="Arial"/>
                <a:sym typeface="Arial"/>
              </a:defRPr>
            </a:lvl8pPr>
            <a:lvl9pPr marL="0" marR="0" lvl="8" indent="0" algn="r" rtl="0">
              <a:spcBef>
                <a:spcPts val="0"/>
              </a:spcBef>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p:nvPr/>
        </p:nvSpPr>
        <p:spPr>
          <a:xfrm>
            <a:off x="0" y="162000"/>
            <a:ext cx="9144000" cy="4800300"/>
          </a:xfrm>
          <a:prstGeom prst="rect">
            <a:avLst/>
          </a:prstGeom>
          <a:blipFill rotWithShape="1">
            <a:blip r:embed="rId3">
              <a:alphaModFix amt="30000"/>
            </a:blip>
            <a:stretch>
              <a:fillRect t="-38619"/>
            </a:stretch>
          </a:blip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dirty="0">
              <a:solidFill>
                <a:schemeClr val="lt1"/>
              </a:solidFill>
              <a:latin typeface="Arial"/>
              <a:ea typeface="Arial"/>
              <a:cs typeface="Arial"/>
              <a:sym typeface="Arial"/>
            </a:endParaRPr>
          </a:p>
        </p:txBody>
      </p:sp>
      <p:sp>
        <p:nvSpPr>
          <p:cNvPr id="130" name="Google Shape;130;p25"/>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dirty="0">
              <a:solidFill>
                <a:schemeClr val="lt1"/>
              </a:solidFill>
              <a:latin typeface="Arial"/>
              <a:ea typeface="Arial"/>
              <a:cs typeface="Arial"/>
              <a:sym typeface="Arial"/>
            </a:endParaRPr>
          </a:p>
        </p:txBody>
      </p:sp>
      <p:sp>
        <p:nvSpPr>
          <p:cNvPr id="131" name="Google Shape;131;p25"/>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dirty="0">
              <a:solidFill>
                <a:schemeClr val="lt1"/>
              </a:solidFill>
              <a:latin typeface="Arial"/>
              <a:ea typeface="Arial"/>
              <a:cs typeface="Arial"/>
              <a:sym typeface="Arial"/>
            </a:endParaRPr>
          </a:p>
        </p:txBody>
      </p:sp>
      <p:sp>
        <p:nvSpPr>
          <p:cNvPr id="132" name="Google Shape;132;p25"/>
          <p:cNvSpPr/>
          <p:nvPr/>
        </p:nvSpPr>
        <p:spPr>
          <a:xfrm>
            <a:off x="4927108" y="4972927"/>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dirty="0">
              <a:solidFill>
                <a:schemeClr val="lt1"/>
              </a:solidFill>
              <a:latin typeface="Arial"/>
              <a:ea typeface="Arial"/>
              <a:cs typeface="Arial"/>
              <a:sym typeface="Arial"/>
            </a:endParaRPr>
          </a:p>
        </p:txBody>
      </p:sp>
      <p:sp>
        <p:nvSpPr>
          <p:cNvPr id="133" name="Google Shape;133;p25"/>
          <p:cNvSpPr/>
          <p:nvPr/>
        </p:nvSpPr>
        <p:spPr>
          <a:xfrm>
            <a:off x="-8853" y="4972927"/>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dirty="0">
              <a:solidFill>
                <a:schemeClr val="lt1"/>
              </a:solidFill>
              <a:latin typeface="Arial"/>
              <a:ea typeface="Arial"/>
              <a:cs typeface="Arial"/>
              <a:sym typeface="Arial"/>
            </a:endParaRPr>
          </a:p>
        </p:txBody>
      </p:sp>
      <p:sp>
        <p:nvSpPr>
          <p:cNvPr id="134" name="Google Shape;134;p25"/>
          <p:cNvSpPr txBox="1"/>
          <p:nvPr/>
        </p:nvSpPr>
        <p:spPr>
          <a:xfrm>
            <a:off x="0" y="1178313"/>
            <a:ext cx="9144000" cy="36402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400" dirty="0">
                <a:solidFill>
                  <a:schemeClr val="dk1"/>
                </a:solidFill>
                <a:latin typeface="Nunito Sans"/>
                <a:ea typeface="Nunito Sans"/>
                <a:cs typeface="Nunito Sans"/>
                <a:sym typeface="Nunito Sans"/>
              </a:rPr>
              <a:t>Maker’s Lab Report Presentation</a:t>
            </a:r>
            <a:endParaRPr sz="2400" dirty="0">
              <a:solidFill>
                <a:schemeClr val="dk1"/>
              </a:solidFill>
              <a:latin typeface="Nunito Sans"/>
              <a:ea typeface="Nunito Sans"/>
              <a:cs typeface="Nunito Sans"/>
              <a:sym typeface="Nunito Sans"/>
            </a:endParaRPr>
          </a:p>
          <a:p>
            <a:pPr marL="0" marR="0" lvl="0" indent="0" algn="ctr" rtl="0">
              <a:spcBef>
                <a:spcPts val="0"/>
              </a:spcBef>
              <a:spcAft>
                <a:spcPts val="0"/>
              </a:spcAft>
              <a:buNone/>
            </a:pPr>
            <a:endParaRPr sz="2400" dirty="0">
              <a:solidFill>
                <a:schemeClr val="dk1"/>
              </a:solidFill>
              <a:latin typeface="Nunito Sans"/>
              <a:ea typeface="Nunito Sans"/>
              <a:cs typeface="Nunito Sans"/>
              <a:sym typeface="Nunito Sans"/>
            </a:endParaRPr>
          </a:p>
          <a:p>
            <a:pPr marL="0" marR="0" lvl="0" indent="0" algn="ctr" rtl="0">
              <a:spcBef>
                <a:spcPts val="0"/>
              </a:spcBef>
              <a:spcAft>
                <a:spcPts val="0"/>
              </a:spcAft>
              <a:buNone/>
            </a:pPr>
            <a:r>
              <a:rPr lang="en" sz="2400" b="1" dirty="0">
                <a:solidFill>
                  <a:schemeClr val="dk1"/>
                </a:solidFill>
                <a:latin typeface="Nunito Sans"/>
                <a:ea typeface="Nunito Sans"/>
                <a:cs typeface="Nunito Sans"/>
                <a:sym typeface="Nunito Sans"/>
              </a:rPr>
              <a:t>Project-Name: N.A.V.R.A.A.H</a:t>
            </a:r>
            <a:endParaRPr sz="2400" b="1" dirty="0">
              <a:solidFill>
                <a:schemeClr val="dk1"/>
              </a:solidFill>
              <a:latin typeface="Nunito Sans"/>
              <a:ea typeface="Nunito Sans"/>
              <a:cs typeface="Nunito Sans"/>
              <a:sym typeface="Nunito Sans"/>
            </a:endParaRPr>
          </a:p>
          <a:p>
            <a:pPr marL="0" marR="0" lvl="0" indent="0" algn="ctr" rtl="0">
              <a:spcBef>
                <a:spcPts val="0"/>
              </a:spcBef>
              <a:spcAft>
                <a:spcPts val="0"/>
              </a:spcAft>
              <a:buNone/>
            </a:pPr>
            <a:r>
              <a:rPr lang="en" sz="2200" b="1" dirty="0">
                <a:solidFill>
                  <a:schemeClr val="dk1"/>
                </a:solidFill>
                <a:latin typeface="Nunito Sans"/>
                <a:ea typeface="Nunito Sans"/>
                <a:cs typeface="Nunito Sans"/>
                <a:sym typeface="Nunito Sans"/>
              </a:rPr>
              <a:t>Project Category: </a:t>
            </a:r>
            <a:r>
              <a:rPr lang="en-US" sz="2200" dirty="0">
                <a:solidFill>
                  <a:schemeClr val="dk1"/>
                </a:solidFill>
                <a:latin typeface="Nunito Sans"/>
                <a:ea typeface="Nunito Sans"/>
                <a:cs typeface="Nunito Sans"/>
                <a:sym typeface="Nunito Sans"/>
              </a:rPr>
              <a:t>IoT</a:t>
            </a:r>
            <a:endParaRPr sz="2200" dirty="0">
              <a:solidFill>
                <a:schemeClr val="dk1"/>
              </a:solidFill>
              <a:latin typeface="Nunito Sans"/>
              <a:ea typeface="Nunito Sans"/>
              <a:cs typeface="Nunito Sans"/>
              <a:sym typeface="Nunito Sans"/>
            </a:endParaRPr>
          </a:p>
          <a:p>
            <a:pPr marL="0" marR="0" lvl="0" indent="0" algn="ctr" rtl="0">
              <a:spcBef>
                <a:spcPts val="0"/>
              </a:spcBef>
              <a:spcAft>
                <a:spcPts val="0"/>
              </a:spcAft>
              <a:buNone/>
            </a:pPr>
            <a:endParaRPr sz="1800" dirty="0">
              <a:solidFill>
                <a:schemeClr val="dk1"/>
              </a:solidFill>
              <a:latin typeface="Nunito Sans"/>
              <a:ea typeface="Nunito Sans"/>
              <a:cs typeface="Nunito Sans"/>
              <a:sym typeface="Nunito Sans"/>
            </a:endParaRPr>
          </a:p>
          <a:p>
            <a:pPr marL="0" marR="0" lvl="0" indent="0" algn="ctr" rtl="0">
              <a:spcBef>
                <a:spcPts val="0"/>
              </a:spcBef>
              <a:spcAft>
                <a:spcPts val="0"/>
              </a:spcAft>
              <a:buNone/>
            </a:pPr>
            <a:r>
              <a:rPr lang="en" sz="1800" i="1" dirty="0">
                <a:solidFill>
                  <a:schemeClr val="dk1"/>
                </a:solidFill>
                <a:latin typeface="Nunito Sans"/>
                <a:ea typeface="Nunito Sans"/>
                <a:cs typeface="Nunito Sans"/>
                <a:sym typeface="Nunito Sans"/>
              </a:rPr>
              <a:t>Submitted in partial fulfilment of the requirement of the degree of</a:t>
            </a:r>
            <a:br>
              <a:rPr lang="en" sz="1800" dirty="0">
                <a:solidFill>
                  <a:schemeClr val="dk1"/>
                </a:solidFill>
                <a:latin typeface="Nunito Sans"/>
                <a:ea typeface="Nunito Sans"/>
                <a:cs typeface="Nunito Sans"/>
                <a:sym typeface="Nunito Sans"/>
              </a:rPr>
            </a:br>
            <a:r>
              <a:rPr lang="en" sz="2200" dirty="0">
                <a:solidFill>
                  <a:schemeClr val="dk1"/>
                </a:solidFill>
                <a:latin typeface="Nunito Sans"/>
                <a:ea typeface="Nunito Sans"/>
                <a:cs typeface="Nunito Sans"/>
                <a:sym typeface="Nunito Sans"/>
              </a:rPr>
              <a:t>  </a:t>
            </a:r>
            <a:r>
              <a:rPr lang="en" sz="2000" b="1" dirty="0">
                <a:solidFill>
                  <a:schemeClr val="dk1"/>
                </a:solidFill>
                <a:latin typeface="Nunito Sans"/>
                <a:ea typeface="Nunito Sans"/>
                <a:cs typeface="Nunito Sans"/>
                <a:sym typeface="Nunito Sans"/>
              </a:rPr>
              <a:t>Bachelor of Technology</a:t>
            </a:r>
            <a:endParaRPr sz="2000" b="1" dirty="0">
              <a:solidFill>
                <a:schemeClr val="dk1"/>
              </a:solidFill>
              <a:latin typeface="Nunito Sans"/>
              <a:ea typeface="Nunito Sans"/>
              <a:cs typeface="Nunito Sans"/>
              <a:sym typeface="Nunito Sans"/>
            </a:endParaRPr>
          </a:p>
          <a:p>
            <a:pPr marL="0" lvl="0" indent="0" algn="ctr" rtl="0">
              <a:spcBef>
                <a:spcPts val="0"/>
              </a:spcBef>
              <a:spcAft>
                <a:spcPts val="0"/>
              </a:spcAft>
              <a:buClr>
                <a:schemeClr val="dk1"/>
              </a:buClr>
              <a:buFont typeface="Arial"/>
              <a:buNone/>
            </a:pPr>
            <a:r>
              <a:rPr lang="en" sz="2000" b="1" dirty="0">
                <a:solidFill>
                  <a:schemeClr val="dk1"/>
                </a:solidFill>
                <a:latin typeface="Nunito Sans"/>
                <a:ea typeface="Nunito Sans"/>
                <a:cs typeface="Nunito Sans"/>
                <a:sym typeface="Nunito Sans"/>
              </a:rPr>
              <a:t>in </a:t>
            </a:r>
            <a:endParaRPr sz="2000" b="1" dirty="0">
              <a:solidFill>
                <a:schemeClr val="dk1"/>
              </a:solidFill>
              <a:latin typeface="Nunito Sans"/>
              <a:ea typeface="Nunito Sans"/>
              <a:cs typeface="Nunito Sans"/>
              <a:sym typeface="Nunito Sans"/>
            </a:endParaRPr>
          </a:p>
          <a:p>
            <a:pPr marL="0" lvl="0" indent="0" algn="ctr" rtl="0">
              <a:spcBef>
                <a:spcPts val="0"/>
              </a:spcBef>
              <a:spcAft>
                <a:spcPts val="0"/>
              </a:spcAft>
              <a:buNone/>
            </a:pPr>
            <a:r>
              <a:rPr lang="en" sz="2000" b="1" dirty="0">
                <a:solidFill>
                  <a:schemeClr val="dk1"/>
                </a:solidFill>
                <a:latin typeface="Nunito Sans"/>
                <a:ea typeface="Nunito Sans"/>
                <a:cs typeface="Nunito Sans"/>
                <a:sym typeface="Nunito Sans"/>
              </a:rPr>
              <a:t>Computer and Software Engineering</a:t>
            </a:r>
            <a:endParaRPr sz="2000" b="1" dirty="0">
              <a:solidFill>
                <a:schemeClr val="dk1"/>
              </a:solidFill>
              <a:latin typeface="Nunito Sans"/>
              <a:ea typeface="Nunito Sans"/>
              <a:cs typeface="Nunito Sans"/>
              <a:sym typeface="Nunito Sans"/>
            </a:endParaRPr>
          </a:p>
          <a:p>
            <a:pPr marL="0" lvl="0" indent="0" algn="ctr" rtl="0">
              <a:spcBef>
                <a:spcPts val="0"/>
              </a:spcBef>
              <a:spcAft>
                <a:spcPts val="0"/>
              </a:spcAft>
              <a:buNone/>
            </a:pPr>
            <a:endParaRPr sz="2000" b="1" dirty="0">
              <a:solidFill>
                <a:schemeClr val="dk1"/>
              </a:solidFill>
              <a:latin typeface="Nunito Sans"/>
              <a:ea typeface="Nunito Sans"/>
              <a:cs typeface="Nunito Sans"/>
              <a:sym typeface="Nunito Sans"/>
            </a:endParaRPr>
          </a:p>
          <a:p>
            <a:pPr marL="0" lvl="0" indent="0" algn="ctr" rtl="0">
              <a:spcBef>
                <a:spcPts val="0"/>
              </a:spcBef>
              <a:spcAft>
                <a:spcPts val="0"/>
              </a:spcAft>
              <a:buClr>
                <a:schemeClr val="dk1"/>
              </a:buClr>
              <a:buFont typeface="Arial"/>
              <a:buNone/>
            </a:pPr>
            <a:r>
              <a:rPr lang="en" sz="2000" i="1" dirty="0">
                <a:solidFill>
                  <a:schemeClr val="dk1"/>
                </a:solidFill>
                <a:latin typeface="Nunito Sans"/>
                <a:ea typeface="Nunito Sans"/>
                <a:cs typeface="Nunito Sans"/>
                <a:sym typeface="Nunito Sans"/>
              </a:rPr>
              <a:t>Submitted by Team -</a:t>
            </a:r>
            <a:r>
              <a:rPr lang="en" sz="2000" dirty="0">
                <a:solidFill>
                  <a:schemeClr val="dk1"/>
                </a:solidFill>
                <a:latin typeface="Nunito Sans"/>
                <a:ea typeface="Nunito Sans"/>
                <a:cs typeface="Nunito Sans"/>
                <a:sym typeface="Nunito Sans"/>
              </a:rPr>
              <a:t> A</a:t>
            </a:r>
            <a:endParaRPr sz="2000" i="1" dirty="0">
              <a:solidFill>
                <a:schemeClr val="dk1"/>
              </a:solidFill>
              <a:latin typeface="Nunito Sans"/>
              <a:ea typeface="Nunito Sans"/>
              <a:cs typeface="Nunito Sans"/>
              <a:sym typeface="Nunito Sans"/>
            </a:endParaRPr>
          </a:p>
        </p:txBody>
      </p:sp>
      <p:pic>
        <p:nvPicPr>
          <p:cNvPr id="135" name="Google Shape;135;p25"/>
          <p:cNvPicPr preferRelativeResize="0"/>
          <p:nvPr/>
        </p:nvPicPr>
        <p:blipFill rotWithShape="1">
          <a:blip r:embed="rId4">
            <a:alphaModFix/>
          </a:blip>
          <a:srcRect/>
          <a:stretch/>
        </p:blipFill>
        <p:spPr>
          <a:xfrm>
            <a:off x="2460308" y="200474"/>
            <a:ext cx="4078117" cy="82342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41" name="Google Shape;141;p26"/>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42" name="Google Shape;142;p26"/>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43" name="Google Shape;143;p26"/>
          <p:cNvSpPr/>
          <p:nvPr/>
        </p:nvSpPr>
        <p:spPr>
          <a:xfrm>
            <a:off x="4927108" y="4972927"/>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44" name="Google Shape;144;p26"/>
          <p:cNvSpPr/>
          <p:nvPr/>
        </p:nvSpPr>
        <p:spPr>
          <a:xfrm>
            <a:off x="-8853" y="4972927"/>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45" name="Google Shape;145;p26"/>
          <p:cNvSpPr txBox="1"/>
          <p:nvPr/>
        </p:nvSpPr>
        <p:spPr>
          <a:xfrm>
            <a:off x="-8850" y="164450"/>
            <a:ext cx="5580900" cy="531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3000" b="1">
                <a:solidFill>
                  <a:schemeClr val="dk1"/>
                </a:solidFill>
                <a:latin typeface="Times New Roman"/>
                <a:ea typeface="Times New Roman"/>
                <a:cs typeface="Times New Roman"/>
                <a:sym typeface="Times New Roman"/>
              </a:rPr>
              <a:t>Introduction</a:t>
            </a:r>
            <a:endParaRPr sz="3000" b="1" dirty="0">
              <a:solidFill>
                <a:schemeClr val="dk1"/>
              </a:solidFill>
              <a:latin typeface="Times New Roman"/>
              <a:ea typeface="Times New Roman"/>
              <a:cs typeface="Times New Roman"/>
              <a:sym typeface="Times New Roman"/>
            </a:endParaRPr>
          </a:p>
        </p:txBody>
      </p:sp>
      <p:sp>
        <p:nvSpPr>
          <p:cNvPr id="146" name="Google Shape;146;p26"/>
          <p:cNvSpPr txBox="1"/>
          <p:nvPr/>
        </p:nvSpPr>
        <p:spPr>
          <a:xfrm>
            <a:off x="2850" y="750000"/>
            <a:ext cx="9153000" cy="85405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r>
              <a:rPr lang="en" sz="1800" b="1" dirty="0">
                <a:solidFill>
                  <a:schemeClr val="dk1"/>
                </a:solidFill>
                <a:latin typeface="Nunito Sans"/>
                <a:ea typeface="Nunito Sans"/>
                <a:cs typeface="Nunito Sans"/>
                <a:sym typeface="Nunito Sans"/>
              </a:rPr>
              <a:t>Project Title</a:t>
            </a:r>
            <a:r>
              <a:rPr lang="en" sz="1800" dirty="0">
                <a:solidFill>
                  <a:schemeClr val="dk1"/>
                </a:solidFill>
                <a:latin typeface="Nunito Sans"/>
                <a:ea typeface="Nunito Sans"/>
                <a:cs typeface="Nunito Sans"/>
                <a:sym typeface="Nunito Sans"/>
              </a:rPr>
              <a:t> </a:t>
            </a:r>
            <a:endParaRPr sz="1800" dirty="0">
              <a:solidFill>
                <a:schemeClr val="dk1"/>
              </a:solidFill>
              <a:latin typeface="Nunito Sans"/>
              <a:ea typeface="Nunito Sans"/>
              <a:cs typeface="Nunito Sans"/>
              <a:sym typeface="Nunito Sans"/>
            </a:endParaRPr>
          </a:p>
          <a:p>
            <a:pPr lvl="0" algn="ctr">
              <a:lnSpc>
                <a:spcPct val="150000"/>
              </a:lnSpc>
            </a:pPr>
            <a:r>
              <a:rPr lang="en" sz="1600" b="1" dirty="0">
                <a:solidFill>
                  <a:schemeClr val="dk1"/>
                </a:solidFill>
                <a:latin typeface="Nunito Sans"/>
                <a:ea typeface="Nunito Sans"/>
                <a:cs typeface="Nunito Sans"/>
                <a:sym typeface="Nunito Sans"/>
              </a:rPr>
              <a:t>N.A.V.R.A.A.H: N</a:t>
            </a:r>
            <a:r>
              <a:rPr lang="en-US" sz="1600" dirty="0"/>
              <a:t>avigation </a:t>
            </a:r>
            <a:r>
              <a:rPr lang="en-US" sz="1600" b="1" dirty="0"/>
              <a:t>A</a:t>
            </a:r>
            <a:r>
              <a:rPr lang="en-US" sz="1600" dirty="0"/>
              <a:t>ssistant for </a:t>
            </a:r>
            <a:r>
              <a:rPr lang="en-US" sz="1600" b="1" dirty="0"/>
              <a:t>V</a:t>
            </a:r>
            <a:r>
              <a:rPr lang="en-US" sz="1600" dirty="0"/>
              <a:t>isually </a:t>
            </a:r>
            <a:r>
              <a:rPr lang="en-US" sz="1600" b="1" dirty="0"/>
              <a:t>R</a:t>
            </a:r>
            <a:r>
              <a:rPr lang="en-US" sz="1600" dirty="0"/>
              <a:t>estricted </a:t>
            </a:r>
            <a:r>
              <a:rPr lang="en-US" sz="1600" b="1" dirty="0"/>
              <a:t>A</a:t>
            </a:r>
            <a:r>
              <a:rPr lang="en-US" sz="1600" dirty="0"/>
              <a:t>nd </a:t>
            </a:r>
            <a:r>
              <a:rPr lang="en-US" sz="1600" b="1" dirty="0"/>
              <a:t>A</a:t>
            </a:r>
            <a:r>
              <a:rPr lang="en-US" sz="1600" dirty="0"/>
              <a:t>ided </a:t>
            </a:r>
            <a:r>
              <a:rPr lang="en-US" sz="1600" b="1" dirty="0"/>
              <a:t>H</a:t>
            </a:r>
            <a:r>
              <a:rPr lang="en-US" sz="1600" dirty="0"/>
              <a:t>umans</a:t>
            </a:r>
            <a:endParaRPr sz="1600" dirty="0">
              <a:solidFill>
                <a:schemeClr val="dk1"/>
              </a:solidFill>
              <a:latin typeface="Nunito Sans"/>
              <a:ea typeface="Nunito Sans"/>
              <a:cs typeface="Nunito Sans"/>
              <a:sym typeface="Nunito Sans"/>
            </a:endParaRPr>
          </a:p>
        </p:txBody>
      </p:sp>
      <p:sp>
        <p:nvSpPr>
          <p:cNvPr id="147" name="Google Shape;147;p26"/>
          <p:cNvSpPr txBox="1"/>
          <p:nvPr/>
        </p:nvSpPr>
        <p:spPr>
          <a:xfrm>
            <a:off x="8803958" y="4921958"/>
            <a:ext cx="340043" cy="27699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lt1"/>
                </a:solidFill>
                <a:latin typeface="Arial"/>
                <a:ea typeface="Arial"/>
                <a:cs typeface="Arial"/>
                <a:sym typeface="Arial"/>
              </a:rPr>
              <a:t>1</a:t>
            </a:r>
            <a:endParaRPr sz="1400" dirty="0">
              <a:solidFill>
                <a:schemeClr val="lt1"/>
              </a:solidFill>
              <a:latin typeface="Arial"/>
              <a:ea typeface="Arial"/>
              <a:cs typeface="Arial"/>
              <a:sym typeface="Arial"/>
            </a:endParaRPr>
          </a:p>
        </p:txBody>
      </p:sp>
      <p:graphicFrame>
        <p:nvGraphicFramePr>
          <p:cNvPr id="148" name="Google Shape;148;p26"/>
          <p:cNvGraphicFramePr/>
          <p:nvPr>
            <p:extLst>
              <p:ext uri="{D42A27DB-BD31-4B8C-83A1-F6EECF244321}">
                <p14:modId xmlns:p14="http://schemas.microsoft.com/office/powerpoint/2010/main" val="4263169595"/>
              </p:ext>
            </p:extLst>
          </p:nvPr>
        </p:nvGraphicFramePr>
        <p:xfrm>
          <a:off x="1788875" y="2069088"/>
          <a:ext cx="5580950" cy="2194380"/>
        </p:xfrm>
        <a:graphic>
          <a:graphicData uri="http://schemas.openxmlformats.org/drawingml/2006/table">
            <a:tbl>
              <a:tblPr>
                <a:noFill/>
                <a:tableStyleId>{8B16C3E8-A3B4-4CAE-A72B-9407BAFACDD6}</a:tableStyleId>
              </a:tblPr>
              <a:tblGrid>
                <a:gridCol w="2790475">
                  <a:extLst>
                    <a:ext uri="{9D8B030D-6E8A-4147-A177-3AD203B41FA5}">
                      <a16:colId xmlns:a16="http://schemas.microsoft.com/office/drawing/2014/main" val="20000"/>
                    </a:ext>
                  </a:extLst>
                </a:gridCol>
                <a:gridCol w="2790475">
                  <a:extLst>
                    <a:ext uri="{9D8B030D-6E8A-4147-A177-3AD203B41FA5}">
                      <a16:colId xmlns:a16="http://schemas.microsoft.com/office/drawing/2014/main" val="20001"/>
                    </a:ext>
                  </a:extLst>
                </a:gridCol>
              </a:tblGrid>
              <a:tr h="343975">
                <a:tc>
                  <a:txBody>
                    <a:bodyPr/>
                    <a:lstStyle/>
                    <a:p>
                      <a:pPr marL="0" lvl="0" indent="0" algn="ctr" rtl="0">
                        <a:spcBef>
                          <a:spcPts val="0"/>
                        </a:spcBef>
                        <a:spcAft>
                          <a:spcPts val="0"/>
                        </a:spcAft>
                        <a:buNone/>
                      </a:pPr>
                      <a:r>
                        <a:rPr lang="en" sz="1200" b="1" dirty="0">
                          <a:solidFill>
                            <a:schemeClr val="lt1"/>
                          </a:solidFill>
                          <a:latin typeface="Poppins"/>
                          <a:ea typeface="Poppins"/>
                          <a:cs typeface="Poppins"/>
                          <a:sym typeface="Poppins"/>
                        </a:rPr>
                        <a:t>Student Name</a:t>
                      </a:r>
                      <a:endParaRPr sz="1200" b="1" dirty="0">
                        <a:solidFill>
                          <a:schemeClr val="lt1"/>
                        </a:solidFill>
                        <a:latin typeface="Poppins"/>
                        <a:ea typeface="Poppins"/>
                        <a:cs typeface="Poppins"/>
                        <a:sym typeface="Poppins"/>
                      </a:endParaRPr>
                    </a:p>
                  </a:txBody>
                  <a:tcPr marL="91425" marR="91425" marT="91425" marB="91425">
                    <a:lnB w="9525" cap="flat" cmpd="sng">
                      <a:solidFill>
                        <a:schemeClr val="lt1"/>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200" b="1">
                          <a:solidFill>
                            <a:schemeClr val="lt1"/>
                          </a:solidFill>
                          <a:latin typeface="Poppins"/>
                          <a:ea typeface="Poppins"/>
                          <a:cs typeface="Poppins"/>
                          <a:sym typeface="Poppins"/>
                        </a:rPr>
                        <a:t>Roll number</a:t>
                      </a:r>
                      <a:endParaRPr sz="1200" b="1" dirty="0">
                        <a:solidFill>
                          <a:schemeClr val="lt1"/>
                        </a:solidFill>
                        <a:latin typeface="Poppins"/>
                        <a:ea typeface="Poppins"/>
                        <a:cs typeface="Poppins"/>
                        <a:sym typeface="Poppins"/>
                      </a:endParaRPr>
                    </a:p>
                  </a:txBody>
                  <a:tcPr marL="91425" marR="91425" marT="91425" marB="91425">
                    <a:lnB w="9525" cap="flat" cmpd="sng">
                      <a:solidFill>
                        <a:schemeClr val="lt1"/>
                      </a:solidFill>
                      <a:prstDash val="solid"/>
                      <a:round/>
                      <a:headEnd type="none" w="sm" len="sm"/>
                      <a:tailEnd type="none" w="sm" len="sm"/>
                    </a:lnB>
                    <a:solidFill>
                      <a:srgbClr val="341BF1"/>
                    </a:solidFill>
                  </a:tcPr>
                </a:tc>
                <a:extLst>
                  <a:ext uri="{0D108BD9-81ED-4DB2-BD59-A6C34878D82A}">
                    <a16:rowId xmlns:a16="http://schemas.microsoft.com/office/drawing/2014/main" val="10000"/>
                  </a:ext>
                </a:extLst>
              </a:tr>
              <a:tr h="343975">
                <a:tc>
                  <a:txBody>
                    <a:bodyPr/>
                    <a:lstStyle/>
                    <a:p>
                      <a:pPr marL="0" lvl="0" indent="0" algn="ctr" rtl="0">
                        <a:spcBef>
                          <a:spcPts val="0"/>
                        </a:spcBef>
                        <a:spcAft>
                          <a:spcPts val="0"/>
                        </a:spcAft>
                        <a:buNone/>
                      </a:pPr>
                      <a:r>
                        <a:rPr lang="en" sz="1200" dirty="0">
                          <a:solidFill>
                            <a:schemeClr val="dk1"/>
                          </a:solidFill>
                          <a:latin typeface="Poppins"/>
                          <a:ea typeface="Poppins"/>
                          <a:cs typeface="Poppins"/>
                          <a:sym typeface="Poppins"/>
                        </a:rPr>
                        <a:t>Rishita</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06666"/>
                    </a:solidFill>
                  </a:tcPr>
                </a:tc>
                <a:tc>
                  <a:txBody>
                    <a:bodyPr/>
                    <a:lstStyle/>
                    <a:p>
                      <a:pPr marL="0" lvl="0" indent="0" algn="ctr" rtl="0">
                        <a:spcBef>
                          <a:spcPts val="0"/>
                        </a:spcBef>
                        <a:spcAft>
                          <a:spcPts val="0"/>
                        </a:spcAft>
                        <a:buNone/>
                      </a:pPr>
                      <a:r>
                        <a:rPr lang="en" sz="1200" dirty="0">
                          <a:solidFill>
                            <a:schemeClr val="dk1"/>
                          </a:solidFill>
                          <a:latin typeface="Poppins"/>
                          <a:ea typeface="Poppins"/>
                          <a:cs typeface="Poppins"/>
                          <a:sym typeface="Poppins"/>
                        </a:rPr>
                        <a:t>2501010228</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FA8DC"/>
                    </a:solidFill>
                  </a:tcPr>
                </a:tc>
                <a:extLst>
                  <a:ext uri="{0D108BD9-81ED-4DB2-BD59-A6C34878D82A}">
                    <a16:rowId xmlns:a16="http://schemas.microsoft.com/office/drawing/2014/main" val="10001"/>
                  </a:ext>
                </a:extLst>
              </a:tr>
              <a:tr h="343975">
                <a:tc>
                  <a:txBody>
                    <a:bodyPr/>
                    <a:lstStyle/>
                    <a:p>
                      <a:pPr marL="0" lvl="0" indent="0" algn="ctr" rtl="0">
                        <a:spcBef>
                          <a:spcPts val="0"/>
                        </a:spcBef>
                        <a:spcAft>
                          <a:spcPts val="0"/>
                        </a:spcAft>
                        <a:buNone/>
                      </a:pPr>
                      <a:r>
                        <a:rPr lang="en" sz="1200" dirty="0">
                          <a:solidFill>
                            <a:schemeClr val="dk1"/>
                          </a:solidFill>
                          <a:latin typeface="Poppins"/>
                          <a:ea typeface="Poppins"/>
                          <a:cs typeface="Poppins"/>
                          <a:sym typeface="Poppins"/>
                        </a:rPr>
                        <a:t>Krishyangi Dixit</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A9999"/>
                    </a:solidFill>
                  </a:tcPr>
                </a:tc>
                <a:tc>
                  <a:txBody>
                    <a:bodyPr/>
                    <a:lstStyle/>
                    <a:p>
                      <a:pPr marL="0" lvl="0" indent="0" algn="ctr" rtl="0">
                        <a:spcBef>
                          <a:spcPts val="0"/>
                        </a:spcBef>
                        <a:spcAft>
                          <a:spcPts val="0"/>
                        </a:spcAft>
                        <a:buNone/>
                      </a:pPr>
                      <a:r>
                        <a:rPr lang="en" sz="1200" dirty="0">
                          <a:solidFill>
                            <a:schemeClr val="dk1"/>
                          </a:solidFill>
                          <a:latin typeface="Poppins"/>
                          <a:ea typeface="Poppins"/>
                          <a:cs typeface="Poppins"/>
                          <a:sym typeface="Poppins"/>
                        </a:rPr>
                        <a:t>2501010156</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FC5E8"/>
                    </a:solidFill>
                  </a:tcPr>
                </a:tc>
                <a:extLst>
                  <a:ext uri="{0D108BD9-81ED-4DB2-BD59-A6C34878D82A}">
                    <a16:rowId xmlns:a16="http://schemas.microsoft.com/office/drawing/2014/main" val="10002"/>
                  </a:ext>
                </a:extLst>
              </a:tr>
              <a:tr h="343975">
                <a:tc>
                  <a:txBody>
                    <a:bodyPr/>
                    <a:lstStyle/>
                    <a:p>
                      <a:pPr marL="0" lvl="0" indent="0" algn="ctr" rtl="0">
                        <a:spcBef>
                          <a:spcPts val="0"/>
                        </a:spcBef>
                        <a:spcAft>
                          <a:spcPts val="0"/>
                        </a:spcAft>
                        <a:buNone/>
                      </a:pPr>
                      <a:r>
                        <a:rPr lang="en" sz="1200">
                          <a:solidFill>
                            <a:schemeClr val="dk1"/>
                          </a:solidFill>
                          <a:latin typeface="Poppins"/>
                          <a:ea typeface="Poppins"/>
                          <a:cs typeface="Poppins"/>
                          <a:sym typeface="Poppins"/>
                        </a:rPr>
                        <a:t>Ishan Rawat</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06666"/>
                    </a:solidFill>
                  </a:tcPr>
                </a:tc>
                <a:tc>
                  <a:txBody>
                    <a:bodyPr/>
                    <a:lstStyle/>
                    <a:p>
                      <a:pPr marL="0" lvl="0" indent="0" algn="ctr" rtl="0">
                        <a:spcBef>
                          <a:spcPts val="0"/>
                        </a:spcBef>
                        <a:spcAft>
                          <a:spcPts val="0"/>
                        </a:spcAft>
                        <a:buNone/>
                      </a:pPr>
                      <a:r>
                        <a:rPr lang="en" sz="1200">
                          <a:solidFill>
                            <a:schemeClr val="dk1"/>
                          </a:solidFill>
                          <a:latin typeface="Poppins"/>
                          <a:ea typeface="Poppins"/>
                          <a:cs typeface="Poppins"/>
                          <a:sym typeface="Poppins"/>
                        </a:rPr>
                        <a:t>2501010153</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FA8DC"/>
                    </a:solidFill>
                  </a:tcPr>
                </a:tc>
                <a:extLst>
                  <a:ext uri="{0D108BD9-81ED-4DB2-BD59-A6C34878D82A}">
                    <a16:rowId xmlns:a16="http://schemas.microsoft.com/office/drawing/2014/main" val="10003"/>
                  </a:ext>
                </a:extLst>
              </a:tr>
              <a:tr h="343975">
                <a:tc>
                  <a:txBody>
                    <a:bodyPr/>
                    <a:lstStyle/>
                    <a:p>
                      <a:pPr marL="0" lvl="0" indent="0" algn="ctr" rtl="0">
                        <a:spcBef>
                          <a:spcPts val="0"/>
                        </a:spcBef>
                        <a:spcAft>
                          <a:spcPts val="0"/>
                        </a:spcAft>
                        <a:buNone/>
                      </a:pPr>
                      <a:r>
                        <a:rPr lang="en" sz="1200" dirty="0">
                          <a:solidFill>
                            <a:schemeClr val="dk1"/>
                          </a:solidFill>
                          <a:latin typeface="Poppins"/>
                          <a:ea typeface="Poppins"/>
                          <a:cs typeface="Poppins"/>
                          <a:sym typeface="Poppins"/>
                        </a:rPr>
                        <a:t>Harsh Dev Jha</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A9999"/>
                    </a:solidFill>
                  </a:tcPr>
                </a:tc>
                <a:tc>
                  <a:txBody>
                    <a:bodyPr/>
                    <a:lstStyle/>
                    <a:p>
                      <a:pPr marL="0" lvl="0" indent="0" algn="ctr" rtl="0">
                        <a:spcBef>
                          <a:spcPts val="0"/>
                        </a:spcBef>
                        <a:spcAft>
                          <a:spcPts val="0"/>
                        </a:spcAft>
                        <a:buNone/>
                      </a:pPr>
                      <a:r>
                        <a:rPr lang="en" sz="1200" dirty="0">
                          <a:solidFill>
                            <a:schemeClr val="dk1"/>
                          </a:solidFill>
                          <a:latin typeface="Poppins"/>
                          <a:ea typeface="Poppins"/>
                          <a:cs typeface="Poppins"/>
                          <a:sym typeface="Poppins"/>
                        </a:rPr>
                        <a:t>2501010168</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FC5E8"/>
                    </a:solidFill>
                  </a:tcPr>
                </a:tc>
                <a:extLst>
                  <a:ext uri="{0D108BD9-81ED-4DB2-BD59-A6C34878D82A}">
                    <a16:rowId xmlns:a16="http://schemas.microsoft.com/office/drawing/2014/main" val="10004"/>
                  </a:ext>
                </a:extLst>
              </a:tr>
              <a:tr h="343975">
                <a:tc>
                  <a:txBody>
                    <a:bodyPr/>
                    <a:lstStyle/>
                    <a:p>
                      <a:pPr marL="0" lvl="0" indent="0" algn="ctr" rtl="0">
                        <a:spcBef>
                          <a:spcPts val="0"/>
                        </a:spcBef>
                        <a:spcAft>
                          <a:spcPts val="0"/>
                        </a:spcAft>
                        <a:buNone/>
                      </a:pPr>
                      <a:r>
                        <a:rPr lang="en" sz="1200" dirty="0">
                          <a:solidFill>
                            <a:schemeClr val="dk1"/>
                          </a:solidFill>
                          <a:latin typeface="Poppins"/>
                          <a:ea typeface="Poppins"/>
                          <a:cs typeface="Poppins"/>
                          <a:sym typeface="Poppins"/>
                        </a:rPr>
                        <a:t>Manas Bhasker</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06666"/>
                    </a:solidFill>
                  </a:tcPr>
                </a:tc>
                <a:tc>
                  <a:txBody>
                    <a:bodyPr/>
                    <a:lstStyle/>
                    <a:p>
                      <a:pPr marL="0" lvl="0" indent="0" algn="ctr" rtl="0">
                        <a:spcBef>
                          <a:spcPts val="0"/>
                        </a:spcBef>
                        <a:spcAft>
                          <a:spcPts val="0"/>
                        </a:spcAft>
                        <a:buNone/>
                      </a:pPr>
                      <a:r>
                        <a:rPr lang="en" sz="1200" dirty="0">
                          <a:solidFill>
                            <a:schemeClr val="dk1"/>
                          </a:solidFill>
                          <a:latin typeface="Poppins"/>
                          <a:ea typeface="Poppins"/>
                          <a:cs typeface="Poppins"/>
                          <a:sym typeface="Poppins"/>
                        </a:rPr>
                        <a:t>2501010226</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FA8DC"/>
                    </a:solidFill>
                  </a:tcPr>
                </a:tc>
                <a:extLst>
                  <a:ext uri="{0D108BD9-81ED-4DB2-BD59-A6C34878D82A}">
                    <a16:rowId xmlns:a16="http://schemas.microsoft.com/office/drawing/2014/main" val="10005"/>
                  </a:ext>
                </a:extLst>
              </a:tr>
            </a:tbl>
          </a:graphicData>
        </a:graphic>
      </p:graphicFrame>
      <p:sp>
        <p:nvSpPr>
          <p:cNvPr id="149" name="Google Shape;149;p26"/>
          <p:cNvSpPr txBox="1"/>
          <p:nvPr/>
        </p:nvSpPr>
        <p:spPr>
          <a:xfrm>
            <a:off x="1781550" y="1527300"/>
            <a:ext cx="5580900" cy="53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1"/>
                </a:solidFill>
                <a:latin typeface="Poppins"/>
                <a:ea typeface="Poppins"/>
                <a:cs typeface="Poppins"/>
                <a:sym typeface="Poppins"/>
              </a:rPr>
              <a:t>Sem-II - Project Synopsis</a:t>
            </a:r>
            <a:br>
              <a:rPr lang="en" dirty="0">
                <a:solidFill>
                  <a:schemeClr val="dk1"/>
                </a:solidFill>
                <a:latin typeface="Poppins"/>
                <a:ea typeface="Poppins"/>
                <a:cs typeface="Poppins"/>
                <a:sym typeface="Poppins"/>
              </a:rPr>
            </a:br>
            <a:r>
              <a:rPr lang="en" dirty="0">
                <a:solidFill>
                  <a:schemeClr val="dk1"/>
                </a:solidFill>
                <a:latin typeface="Poppins"/>
                <a:ea typeface="Poppins"/>
                <a:cs typeface="Poppins"/>
                <a:sym typeface="Poppins"/>
              </a:rPr>
              <a:t>Submitted By</a:t>
            </a:r>
            <a:endParaRPr dirty="0">
              <a:solidFill>
                <a:schemeClr val="dk1"/>
              </a:solidFill>
              <a:latin typeface="Poppins"/>
              <a:ea typeface="Poppins"/>
              <a:cs typeface="Poppins"/>
              <a:sym typeface="Poppins"/>
            </a:endParaRPr>
          </a:p>
        </p:txBody>
      </p:sp>
      <p:sp>
        <p:nvSpPr>
          <p:cNvPr id="150" name="Google Shape;150;p26"/>
          <p:cNvSpPr txBox="1"/>
          <p:nvPr/>
        </p:nvSpPr>
        <p:spPr>
          <a:xfrm>
            <a:off x="-8850" y="4140275"/>
            <a:ext cx="1790400" cy="73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dirty="0">
                <a:solidFill>
                  <a:schemeClr val="dk1"/>
                </a:solidFill>
                <a:latin typeface="Nunito Sans"/>
                <a:ea typeface="Nunito Sans"/>
                <a:cs typeface="Nunito Sans"/>
                <a:sym typeface="Nunito Sans"/>
              </a:rPr>
              <a:t>Faculty Mentor:</a:t>
            </a:r>
            <a:endParaRPr sz="1600" b="1"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dk1"/>
                </a:solidFill>
                <a:latin typeface="Nunito Sans"/>
                <a:ea typeface="Nunito Sans"/>
                <a:cs typeface="Nunito Sans"/>
                <a:sym typeface="Nunito Sans"/>
              </a:rPr>
              <a:t>Gaurav Verma</a:t>
            </a:r>
            <a:endParaRPr dirty="0">
              <a:solidFill>
                <a:schemeClr val="dk1"/>
              </a:solidFill>
              <a:latin typeface="Nunito Sans"/>
              <a:ea typeface="Nunito Sans"/>
              <a:cs typeface="Nunito Sans"/>
              <a:sym typeface="Nuni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28FC792A-0196-C65D-492C-945EF44CDC3D}"/>
            </a:ext>
          </a:extLst>
        </p:cNvPr>
        <p:cNvGrpSpPr/>
        <p:nvPr/>
      </p:nvGrpSpPr>
      <p:grpSpPr>
        <a:xfrm>
          <a:off x="0" y="0"/>
          <a:ext cx="0" cy="0"/>
          <a:chOff x="0" y="0"/>
          <a:chExt cx="0" cy="0"/>
        </a:xfrm>
      </p:grpSpPr>
      <p:sp>
        <p:nvSpPr>
          <p:cNvPr id="140" name="Google Shape;140;p26">
            <a:extLst>
              <a:ext uri="{FF2B5EF4-FFF2-40B4-BE49-F238E27FC236}">
                <a16:creationId xmlns:a16="http://schemas.microsoft.com/office/drawing/2014/main" id="{D78E0B9D-22ED-DEBD-4E7E-1E711FB0CAED}"/>
              </a:ext>
            </a:extLst>
          </p:cNvPr>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41" name="Google Shape;141;p26">
            <a:extLst>
              <a:ext uri="{FF2B5EF4-FFF2-40B4-BE49-F238E27FC236}">
                <a16:creationId xmlns:a16="http://schemas.microsoft.com/office/drawing/2014/main" id="{B870FDA7-C1BA-F36A-4422-4CF72E8BE63B}"/>
              </a:ext>
            </a:extLst>
          </p:cNvPr>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42" name="Google Shape;142;p26">
            <a:extLst>
              <a:ext uri="{FF2B5EF4-FFF2-40B4-BE49-F238E27FC236}">
                <a16:creationId xmlns:a16="http://schemas.microsoft.com/office/drawing/2014/main" id="{BB83FD49-DD27-50BD-27DD-E4844CC2F8CB}"/>
              </a:ext>
            </a:extLst>
          </p:cNvPr>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43" name="Google Shape;143;p26">
            <a:extLst>
              <a:ext uri="{FF2B5EF4-FFF2-40B4-BE49-F238E27FC236}">
                <a16:creationId xmlns:a16="http://schemas.microsoft.com/office/drawing/2014/main" id="{473E8950-4F55-2732-9600-BC9F665C45FD}"/>
              </a:ext>
            </a:extLst>
          </p:cNvPr>
          <p:cNvSpPr/>
          <p:nvPr/>
        </p:nvSpPr>
        <p:spPr>
          <a:xfrm>
            <a:off x="4927108" y="4972927"/>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44" name="Google Shape;144;p26">
            <a:extLst>
              <a:ext uri="{FF2B5EF4-FFF2-40B4-BE49-F238E27FC236}">
                <a16:creationId xmlns:a16="http://schemas.microsoft.com/office/drawing/2014/main" id="{7B98BF8F-7B10-AD37-C5B4-4EA554B7678C}"/>
              </a:ext>
            </a:extLst>
          </p:cNvPr>
          <p:cNvSpPr/>
          <p:nvPr/>
        </p:nvSpPr>
        <p:spPr>
          <a:xfrm>
            <a:off x="-8853" y="4972927"/>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45" name="Google Shape;145;p26">
            <a:extLst>
              <a:ext uri="{FF2B5EF4-FFF2-40B4-BE49-F238E27FC236}">
                <a16:creationId xmlns:a16="http://schemas.microsoft.com/office/drawing/2014/main" id="{E67F8565-F80C-01DB-E987-A1BC549E6F29}"/>
              </a:ext>
            </a:extLst>
          </p:cNvPr>
          <p:cNvSpPr txBox="1"/>
          <p:nvPr/>
        </p:nvSpPr>
        <p:spPr>
          <a:xfrm>
            <a:off x="-8850" y="164450"/>
            <a:ext cx="5580900" cy="438551"/>
          </a:xfrm>
          <a:prstGeom prst="rect">
            <a:avLst/>
          </a:prstGeom>
          <a:noFill/>
          <a:ln>
            <a:noFill/>
          </a:ln>
        </p:spPr>
        <p:txBody>
          <a:bodyPr spcFirstLastPara="1" wrap="square" lIns="68575" tIns="34275" rIns="68575" bIns="34275" anchor="t" anchorCtr="0">
            <a:spAutoFit/>
          </a:bodyPr>
          <a:lstStyle/>
          <a:p>
            <a:r>
              <a:rPr lang="en-IN" sz="2400" b="1" dirty="0">
                <a:latin typeface="Times New Roman" panose="02020603050405020304" pitchFamily="18" charset="0"/>
                <a:cs typeface="Times New Roman" panose="02020603050405020304" pitchFamily="18" charset="0"/>
              </a:rPr>
              <a:t>TEAM CONTRIBUTION</a:t>
            </a:r>
          </a:p>
        </p:txBody>
      </p:sp>
      <p:sp>
        <p:nvSpPr>
          <p:cNvPr id="147" name="Google Shape;147;p26">
            <a:extLst>
              <a:ext uri="{FF2B5EF4-FFF2-40B4-BE49-F238E27FC236}">
                <a16:creationId xmlns:a16="http://schemas.microsoft.com/office/drawing/2014/main" id="{A96EFB68-894B-711B-A331-DEC5B990C236}"/>
              </a:ext>
            </a:extLst>
          </p:cNvPr>
          <p:cNvSpPr txBox="1"/>
          <p:nvPr/>
        </p:nvSpPr>
        <p:spPr>
          <a:xfrm>
            <a:off x="8803958" y="4921958"/>
            <a:ext cx="340043" cy="27699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lt1"/>
                </a:solidFill>
                <a:latin typeface="Arial"/>
                <a:ea typeface="Arial"/>
                <a:cs typeface="Arial"/>
                <a:sym typeface="Arial"/>
              </a:rPr>
              <a:t>1</a:t>
            </a:r>
            <a:endParaRPr sz="1400" dirty="0">
              <a:solidFill>
                <a:schemeClr val="lt1"/>
              </a:solidFill>
              <a:latin typeface="Arial"/>
              <a:ea typeface="Arial"/>
              <a:cs typeface="Arial"/>
              <a:sym typeface="Arial"/>
            </a:endParaRPr>
          </a:p>
        </p:txBody>
      </p:sp>
      <p:sp>
        <p:nvSpPr>
          <p:cNvPr id="150" name="Google Shape;150;p26">
            <a:extLst>
              <a:ext uri="{FF2B5EF4-FFF2-40B4-BE49-F238E27FC236}">
                <a16:creationId xmlns:a16="http://schemas.microsoft.com/office/drawing/2014/main" id="{320208D5-B4D7-32BE-952B-3E6563B4913B}"/>
              </a:ext>
            </a:extLst>
          </p:cNvPr>
          <p:cNvSpPr txBox="1"/>
          <p:nvPr/>
        </p:nvSpPr>
        <p:spPr>
          <a:xfrm>
            <a:off x="-8850" y="4140275"/>
            <a:ext cx="1790400" cy="73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dirty="0">
                <a:solidFill>
                  <a:schemeClr val="dk1"/>
                </a:solidFill>
                <a:latin typeface="Nunito Sans"/>
                <a:ea typeface="Nunito Sans"/>
                <a:cs typeface="Nunito Sans"/>
                <a:sym typeface="Nunito Sans"/>
              </a:rPr>
              <a:t>Faculty Mentor:</a:t>
            </a:r>
            <a:endParaRPr sz="1600" b="1"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dk1"/>
                </a:solidFill>
                <a:latin typeface="Nunito Sans"/>
                <a:ea typeface="Nunito Sans"/>
                <a:cs typeface="Nunito Sans"/>
                <a:sym typeface="Nunito Sans"/>
              </a:rPr>
              <a:t>Gaurav Verma</a:t>
            </a:r>
            <a:endParaRPr dirty="0">
              <a:solidFill>
                <a:schemeClr val="dk1"/>
              </a:solidFill>
              <a:latin typeface="Nunito Sans"/>
              <a:ea typeface="Nunito Sans"/>
              <a:cs typeface="Nunito Sans"/>
              <a:sym typeface="Nunito Sans"/>
            </a:endParaRPr>
          </a:p>
        </p:txBody>
      </p:sp>
      <p:graphicFrame>
        <p:nvGraphicFramePr>
          <p:cNvPr id="4" name="Google Shape;148;p26">
            <a:extLst>
              <a:ext uri="{FF2B5EF4-FFF2-40B4-BE49-F238E27FC236}">
                <a16:creationId xmlns:a16="http://schemas.microsoft.com/office/drawing/2014/main" id="{F768D398-4167-C901-4909-053454CE5331}"/>
              </a:ext>
            </a:extLst>
          </p:cNvPr>
          <p:cNvGraphicFramePr/>
          <p:nvPr>
            <p:extLst>
              <p:ext uri="{D42A27DB-BD31-4B8C-83A1-F6EECF244321}">
                <p14:modId xmlns:p14="http://schemas.microsoft.com/office/powerpoint/2010/main" val="2699979628"/>
              </p:ext>
            </p:extLst>
          </p:nvPr>
        </p:nvGraphicFramePr>
        <p:xfrm>
          <a:off x="1211766" y="1433136"/>
          <a:ext cx="6965794" cy="2560140"/>
        </p:xfrm>
        <a:graphic>
          <a:graphicData uri="http://schemas.openxmlformats.org/drawingml/2006/table">
            <a:tbl>
              <a:tblPr>
                <a:noFill/>
                <a:tableStyleId>{8B16C3E8-A3B4-4CAE-A72B-9407BAFACDD6}</a:tableStyleId>
              </a:tblPr>
              <a:tblGrid>
                <a:gridCol w="3482897">
                  <a:extLst>
                    <a:ext uri="{9D8B030D-6E8A-4147-A177-3AD203B41FA5}">
                      <a16:colId xmlns:a16="http://schemas.microsoft.com/office/drawing/2014/main" val="20000"/>
                    </a:ext>
                  </a:extLst>
                </a:gridCol>
                <a:gridCol w="3482897">
                  <a:extLst>
                    <a:ext uri="{9D8B030D-6E8A-4147-A177-3AD203B41FA5}">
                      <a16:colId xmlns:a16="http://schemas.microsoft.com/office/drawing/2014/main" val="20001"/>
                    </a:ext>
                  </a:extLst>
                </a:gridCol>
              </a:tblGrid>
              <a:tr h="343975">
                <a:tc>
                  <a:txBody>
                    <a:bodyPr/>
                    <a:lstStyle/>
                    <a:p>
                      <a:pPr marL="0" lvl="0" indent="0" algn="ctr" rtl="0">
                        <a:spcBef>
                          <a:spcPts val="0"/>
                        </a:spcBef>
                        <a:spcAft>
                          <a:spcPts val="0"/>
                        </a:spcAft>
                        <a:buNone/>
                      </a:pPr>
                      <a:r>
                        <a:rPr lang="en" sz="1200" b="1">
                          <a:solidFill>
                            <a:schemeClr val="lt1"/>
                          </a:solidFill>
                          <a:latin typeface="Poppins"/>
                          <a:ea typeface="Poppins"/>
                          <a:cs typeface="Poppins"/>
                          <a:sym typeface="Poppins"/>
                        </a:rPr>
                        <a:t>Student Name</a:t>
                      </a:r>
                      <a:endParaRPr sz="1200" b="1" dirty="0">
                        <a:solidFill>
                          <a:schemeClr val="lt1"/>
                        </a:solidFill>
                        <a:latin typeface="Poppins"/>
                        <a:ea typeface="Poppins"/>
                        <a:cs typeface="Poppins"/>
                        <a:sym typeface="Poppins"/>
                      </a:endParaRPr>
                    </a:p>
                  </a:txBody>
                  <a:tcPr marL="91425" marR="91425" marT="91425" marB="91425">
                    <a:lnB w="9525" cap="flat" cmpd="sng">
                      <a:solidFill>
                        <a:schemeClr val="lt1"/>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1200" b="1" dirty="0">
                          <a:solidFill>
                            <a:schemeClr val="lt1"/>
                          </a:solidFill>
                          <a:latin typeface="Poppins"/>
                          <a:ea typeface="Poppins"/>
                          <a:cs typeface="Poppins"/>
                          <a:sym typeface="Poppins"/>
                        </a:rPr>
                        <a:t>Roles Alloted</a:t>
                      </a:r>
                      <a:endParaRPr sz="1200" b="1" dirty="0">
                        <a:solidFill>
                          <a:schemeClr val="lt1"/>
                        </a:solidFill>
                        <a:latin typeface="Poppins"/>
                        <a:ea typeface="Poppins"/>
                        <a:cs typeface="Poppins"/>
                        <a:sym typeface="Poppins"/>
                      </a:endParaRPr>
                    </a:p>
                  </a:txBody>
                  <a:tcPr marL="91425" marR="91425" marT="91425" marB="91425">
                    <a:lnB w="9525" cap="flat" cmpd="sng">
                      <a:solidFill>
                        <a:schemeClr val="lt1"/>
                      </a:solidFill>
                      <a:prstDash val="solid"/>
                      <a:round/>
                      <a:headEnd type="none" w="sm" len="sm"/>
                      <a:tailEnd type="none" w="sm" len="sm"/>
                    </a:lnB>
                    <a:solidFill>
                      <a:srgbClr val="341BF1"/>
                    </a:solidFill>
                  </a:tcPr>
                </a:tc>
                <a:extLst>
                  <a:ext uri="{0D108BD9-81ED-4DB2-BD59-A6C34878D82A}">
                    <a16:rowId xmlns:a16="http://schemas.microsoft.com/office/drawing/2014/main" val="10000"/>
                  </a:ext>
                </a:extLst>
              </a:tr>
              <a:tr h="343975">
                <a:tc>
                  <a:txBody>
                    <a:bodyPr/>
                    <a:lstStyle/>
                    <a:p>
                      <a:pPr marL="0" lvl="0" indent="0" algn="ctr" rtl="0">
                        <a:spcBef>
                          <a:spcPts val="0"/>
                        </a:spcBef>
                        <a:spcAft>
                          <a:spcPts val="0"/>
                        </a:spcAft>
                        <a:buNone/>
                      </a:pPr>
                      <a:r>
                        <a:rPr lang="en" sz="1200" dirty="0">
                          <a:solidFill>
                            <a:schemeClr val="dk1"/>
                          </a:solidFill>
                          <a:latin typeface="Poppins"/>
                          <a:ea typeface="Poppins"/>
                          <a:cs typeface="Poppins"/>
                          <a:sym typeface="Poppins"/>
                        </a:rPr>
                        <a:t>Rishita</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06666"/>
                    </a:solidFill>
                  </a:tcPr>
                </a:tc>
                <a:tc>
                  <a:txBody>
                    <a:bodyPr/>
                    <a:lstStyle/>
                    <a:p>
                      <a:pPr marL="0" lvl="0" indent="0" algn="ctr" rtl="0">
                        <a:spcBef>
                          <a:spcPts val="0"/>
                        </a:spcBef>
                        <a:spcAft>
                          <a:spcPts val="0"/>
                        </a:spcAft>
                        <a:buNone/>
                      </a:pPr>
                      <a:r>
                        <a:rPr lang="en-IN" sz="1200"/>
                        <a:t>Hardware integration and sensor setup</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FA8DC"/>
                    </a:solidFill>
                  </a:tcPr>
                </a:tc>
                <a:extLst>
                  <a:ext uri="{0D108BD9-81ED-4DB2-BD59-A6C34878D82A}">
                    <a16:rowId xmlns:a16="http://schemas.microsoft.com/office/drawing/2014/main" val="10001"/>
                  </a:ext>
                </a:extLst>
              </a:tr>
              <a:tr h="240154">
                <a:tc>
                  <a:txBody>
                    <a:bodyPr/>
                    <a:lstStyle/>
                    <a:p>
                      <a:pPr marL="0" lvl="0" indent="0" algn="ctr" rtl="0">
                        <a:spcBef>
                          <a:spcPts val="0"/>
                        </a:spcBef>
                        <a:spcAft>
                          <a:spcPts val="0"/>
                        </a:spcAft>
                        <a:buNone/>
                      </a:pPr>
                      <a:r>
                        <a:rPr lang="en-US" sz="1200" dirty="0">
                          <a:solidFill>
                            <a:schemeClr val="dk1"/>
                          </a:solidFill>
                          <a:latin typeface="Poppins"/>
                          <a:ea typeface="Poppins"/>
                          <a:cs typeface="Poppins"/>
                          <a:sym typeface="Poppins"/>
                        </a:rPr>
                        <a:t>Manas Bhasker</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A9999"/>
                    </a:solidFill>
                  </a:tcPr>
                </a:tc>
                <a:tc>
                  <a:txBody>
                    <a:bodyPr/>
                    <a:lstStyle/>
                    <a:p>
                      <a:pPr marL="0" lvl="0" indent="0" algn="ctr" rtl="0">
                        <a:spcBef>
                          <a:spcPts val="0"/>
                        </a:spcBef>
                        <a:spcAft>
                          <a:spcPts val="0"/>
                        </a:spcAft>
                        <a:buNone/>
                      </a:pPr>
                      <a:r>
                        <a:rPr lang="en-IN" sz="1200" dirty="0"/>
                        <a:t>Camera configuration and OpenCV processing</a:t>
                      </a:r>
                      <a:br>
                        <a:rPr lang="en-IN" sz="1200" dirty="0"/>
                      </a:b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FC5E8"/>
                    </a:solidFill>
                  </a:tcPr>
                </a:tc>
                <a:extLst>
                  <a:ext uri="{0D108BD9-81ED-4DB2-BD59-A6C34878D82A}">
                    <a16:rowId xmlns:a16="http://schemas.microsoft.com/office/drawing/2014/main" val="10002"/>
                  </a:ext>
                </a:extLst>
              </a:tr>
              <a:tr h="343975">
                <a:tc>
                  <a:txBody>
                    <a:bodyPr/>
                    <a:lstStyle/>
                    <a:p>
                      <a:pPr marL="0" lvl="0" indent="0" algn="ctr" rtl="0">
                        <a:spcBef>
                          <a:spcPts val="0"/>
                        </a:spcBef>
                        <a:spcAft>
                          <a:spcPts val="0"/>
                        </a:spcAft>
                        <a:buNone/>
                      </a:pPr>
                      <a:r>
                        <a:rPr lang="en-IN" sz="1200" dirty="0">
                          <a:solidFill>
                            <a:schemeClr val="dk1"/>
                          </a:solidFill>
                          <a:latin typeface="Poppins"/>
                          <a:ea typeface="Poppins"/>
                          <a:cs typeface="Poppins"/>
                          <a:sym typeface="Poppins"/>
                        </a:rPr>
                        <a:t>Harsh Dev Jha</a:t>
                      </a: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06666"/>
                    </a:solidFill>
                  </a:tcPr>
                </a:tc>
                <a:tc>
                  <a:txBody>
                    <a:bodyPr/>
                    <a:lstStyle/>
                    <a:p>
                      <a:pPr marL="0" lvl="0" indent="0" algn="ctr" rtl="0">
                        <a:spcBef>
                          <a:spcPts val="0"/>
                        </a:spcBef>
                        <a:spcAft>
                          <a:spcPts val="0"/>
                        </a:spcAft>
                        <a:buNone/>
                      </a:pPr>
                      <a:r>
                        <a:rPr lang="en-IN" sz="1200" dirty="0"/>
                        <a:t>Machine learning model integration</a:t>
                      </a:r>
                      <a:br>
                        <a:rPr lang="en-IN" sz="1200" dirty="0"/>
                      </a:b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FA8DC"/>
                    </a:solidFill>
                  </a:tcPr>
                </a:tc>
                <a:extLst>
                  <a:ext uri="{0D108BD9-81ED-4DB2-BD59-A6C34878D82A}">
                    <a16:rowId xmlns:a16="http://schemas.microsoft.com/office/drawing/2014/main" val="10003"/>
                  </a:ext>
                </a:extLst>
              </a:tr>
              <a:tr h="343975">
                <a:tc>
                  <a:txBody>
                    <a:bodyPr/>
                    <a:lstStyle/>
                    <a:p>
                      <a:pPr marL="0" lvl="0" indent="0" algn="ctr" rtl="0">
                        <a:spcBef>
                          <a:spcPts val="0"/>
                        </a:spcBef>
                        <a:spcAft>
                          <a:spcPts val="0"/>
                        </a:spcAft>
                        <a:buNone/>
                      </a:pPr>
                      <a:r>
                        <a:rPr lang="en-US" sz="1200" dirty="0">
                          <a:solidFill>
                            <a:schemeClr val="dk1"/>
                          </a:solidFill>
                          <a:latin typeface="Poppins"/>
                          <a:ea typeface="Poppins"/>
                          <a:cs typeface="Poppins"/>
                          <a:sym typeface="Poppins"/>
                        </a:rPr>
                        <a:t>Ishan Rawat</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A9999"/>
                    </a:solidFill>
                  </a:tcPr>
                </a:tc>
                <a:tc>
                  <a:txBody>
                    <a:bodyPr/>
                    <a:lstStyle/>
                    <a:p>
                      <a:pPr marL="0" lvl="0" indent="0" algn="ctr" rtl="0">
                        <a:spcBef>
                          <a:spcPts val="0"/>
                        </a:spcBef>
                        <a:spcAft>
                          <a:spcPts val="0"/>
                        </a:spcAft>
                        <a:buNone/>
                      </a:pPr>
                      <a:r>
                        <a:rPr lang="en-IN" sz="1200" dirty="0"/>
                        <a:t>Audio output and alert logic</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FC5E8"/>
                    </a:solidFill>
                  </a:tcPr>
                </a:tc>
                <a:extLst>
                  <a:ext uri="{0D108BD9-81ED-4DB2-BD59-A6C34878D82A}">
                    <a16:rowId xmlns:a16="http://schemas.microsoft.com/office/drawing/2014/main" val="10004"/>
                  </a:ext>
                </a:extLst>
              </a:tr>
              <a:tr h="343975">
                <a:tc>
                  <a:txBody>
                    <a:bodyPr/>
                    <a:lstStyle/>
                    <a:p>
                      <a:pPr marL="0" lvl="0" indent="0" algn="ctr" rtl="0">
                        <a:spcBef>
                          <a:spcPts val="0"/>
                        </a:spcBef>
                        <a:spcAft>
                          <a:spcPts val="0"/>
                        </a:spcAft>
                        <a:buNone/>
                      </a:pPr>
                      <a:r>
                        <a:rPr lang="en" sz="1200" dirty="0">
                          <a:solidFill>
                            <a:schemeClr val="dk1"/>
                          </a:solidFill>
                          <a:latin typeface="Poppins"/>
                          <a:ea typeface="Poppins"/>
                          <a:cs typeface="Poppins"/>
                          <a:sym typeface="Poppins"/>
                        </a:rPr>
                        <a:t>Krishyangi Dixit</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06666"/>
                    </a:solidFill>
                  </a:tcPr>
                </a:tc>
                <a:tc>
                  <a:txBody>
                    <a:bodyPr/>
                    <a:lstStyle/>
                    <a:p>
                      <a:pPr marL="0" lvl="0" indent="0" algn="ctr" rtl="0">
                        <a:spcBef>
                          <a:spcPts val="0"/>
                        </a:spcBef>
                        <a:spcAft>
                          <a:spcPts val="0"/>
                        </a:spcAft>
                        <a:buNone/>
                      </a:pPr>
                      <a:r>
                        <a:rPr lang="en-IN" sz="1200" dirty="0"/>
                        <a:t>Testing, documentation, and presentation</a:t>
                      </a:r>
                      <a:endParaRPr sz="1200" dirty="0">
                        <a:solidFill>
                          <a:schemeClr val="dk1"/>
                        </a:solidFill>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FA8DC"/>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78573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7"/>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56" name="Google Shape;156;p27"/>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57" name="Google Shape;157;p27"/>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58" name="Google Shape;158;p27"/>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59" name="Google Shape;159;p27"/>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60" name="Google Shape;160;p27"/>
          <p:cNvSpPr txBox="1"/>
          <p:nvPr/>
        </p:nvSpPr>
        <p:spPr>
          <a:xfrm>
            <a:off x="-8850" y="164450"/>
            <a:ext cx="5580900" cy="531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3000" b="1" dirty="0">
                <a:solidFill>
                  <a:schemeClr val="dk1"/>
                </a:solidFill>
                <a:latin typeface="Times New Roman"/>
                <a:ea typeface="Times New Roman"/>
                <a:cs typeface="Times New Roman"/>
                <a:sym typeface="Times New Roman"/>
              </a:rPr>
              <a:t>Abstract</a:t>
            </a:r>
            <a:endParaRPr sz="3000" b="1" dirty="0">
              <a:solidFill>
                <a:schemeClr val="dk1"/>
              </a:solidFill>
              <a:latin typeface="Times New Roman"/>
              <a:ea typeface="Times New Roman"/>
              <a:cs typeface="Times New Roman"/>
              <a:sym typeface="Times New Roman"/>
            </a:endParaRPr>
          </a:p>
        </p:txBody>
      </p:sp>
      <p:sp>
        <p:nvSpPr>
          <p:cNvPr id="161" name="Google Shape;161;p27"/>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2</a:t>
            </a:r>
            <a:endParaRPr sz="1400" dirty="0">
              <a:solidFill>
                <a:schemeClr val="lt1"/>
              </a:solidFill>
              <a:latin typeface="Arial"/>
              <a:ea typeface="Arial"/>
              <a:cs typeface="Arial"/>
              <a:sym typeface="Arial"/>
            </a:endParaRPr>
          </a:p>
        </p:txBody>
      </p:sp>
      <p:sp>
        <p:nvSpPr>
          <p:cNvPr id="162" name="Google Shape;162;p27"/>
          <p:cNvSpPr txBox="1"/>
          <p:nvPr/>
        </p:nvSpPr>
        <p:spPr>
          <a:xfrm>
            <a:off x="423746" y="1494547"/>
            <a:ext cx="8460059" cy="2400627"/>
          </a:xfrm>
          <a:prstGeom prst="rect">
            <a:avLst/>
          </a:prstGeom>
          <a:noFill/>
          <a:ln>
            <a:noFill/>
          </a:ln>
        </p:spPr>
        <p:txBody>
          <a:bodyPr spcFirstLastPara="1" wrap="square" lIns="91425" tIns="91425" rIns="91425" bIns="91425" anchor="t" anchorCtr="0">
            <a:spAutoFit/>
          </a:bodyPr>
          <a:lstStyle/>
          <a:p>
            <a:pPr algn="just"/>
            <a:r>
              <a:rPr lang="en-US" sz="1600" dirty="0"/>
              <a:t>Visually impaired individuals face significant challenges while navigating unfamiliar and dynamic environments. Traditional mobility aids such as white canes provide limited environmental awareness and cannot identify obstacles or suggest directional movement. </a:t>
            </a:r>
            <a:r>
              <a:rPr lang="en-US" sz="1600" b="1" dirty="0"/>
              <a:t>N.A.V.R.A.A.H</a:t>
            </a:r>
            <a:r>
              <a:rPr lang="en-US" sz="1600" dirty="0"/>
              <a:t> is an intelligent assistive navigation system designed to enhance mobility and safety for visually restricted individuals.</a:t>
            </a:r>
          </a:p>
          <a:p>
            <a:pPr algn="just"/>
            <a:endParaRPr lang="en-US" sz="1600" dirty="0"/>
          </a:p>
          <a:p>
            <a:pPr algn="just"/>
            <a:r>
              <a:rPr lang="en-US" sz="1600" dirty="0"/>
              <a:t>The system integrates computer vision, distance sensors, and voice feedback to detect obstacles, identify objects, and provide real-time navigation assistance. NAVRAAH is compact, affordable, and capable of offline operation, making it suitable for everyday use.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68" name="Google Shape;168;p28"/>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69" name="Google Shape;169;p28"/>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70" name="Google Shape;170;p28"/>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71" name="Google Shape;171;p28"/>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72" name="Google Shape;172;p28"/>
          <p:cNvSpPr txBox="1"/>
          <p:nvPr/>
        </p:nvSpPr>
        <p:spPr>
          <a:xfrm>
            <a:off x="-8850" y="164450"/>
            <a:ext cx="5580900" cy="531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3000" b="1" dirty="0">
                <a:solidFill>
                  <a:schemeClr val="dk1"/>
                </a:solidFill>
                <a:latin typeface="Times New Roman"/>
                <a:ea typeface="Times New Roman"/>
                <a:cs typeface="Times New Roman"/>
                <a:sym typeface="Times New Roman"/>
              </a:rPr>
              <a:t>Introduction</a:t>
            </a:r>
            <a:endParaRPr sz="3000" b="1" dirty="0">
              <a:solidFill>
                <a:schemeClr val="dk1"/>
              </a:solidFill>
              <a:latin typeface="Times New Roman"/>
              <a:ea typeface="Times New Roman"/>
              <a:cs typeface="Times New Roman"/>
              <a:sym typeface="Times New Roman"/>
            </a:endParaRPr>
          </a:p>
        </p:txBody>
      </p:sp>
      <p:sp>
        <p:nvSpPr>
          <p:cNvPr id="173" name="Google Shape;173;p28"/>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3</a:t>
            </a:r>
            <a:endParaRPr sz="1400" dirty="0">
              <a:solidFill>
                <a:schemeClr val="lt1"/>
              </a:solidFill>
              <a:latin typeface="Arial"/>
              <a:ea typeface="Arial"/>
              <a:cs typeface="Arial"/>
              <a:sym typeface="Arial"/>
            </a:endParaRPr>
          </a:p>
        </p:txBody>
      </p:sp>
      <p:sp>
        <p:nvSpPr>
          <p:cNvPr id="174" name="Google Shape;174;p28"/>
          <p:cNvSpPr txBox="1"/>
          <p:nvPr/>
        </p:nvSpPr>
        <p:spPr>
          <a:xfrm>
            <a:off x="646770" y="1736482"/>
            <a:ext cx="7973905" cy="1908184"/>
          </a:xfrm>
          <a:prstGeom prst="rect">
            <a:avLst/>
          </a:prstGeom>
          <a:noFill/>
          <a:ln>
            <a:noFill/>
          </a:ln>
        </p:spPr>
        <p:txBody>
          <a:bodyPr spcFirstLastPara="1" wrap="square" lIns="91425" tIns="91425" rIns="91425" bIns="91425" anchor="t" anchorCtr="0">
            <a:spAutoFit/>
          </a:bodyPr>
          <a:lstStyle/>
          <a:p>
            <a:pPr algn="just"/>
            <a:r>
              <a:rPr lang="en-US" sz="1600" dirty="0"/>
              <a:t>Navigation is a major challenge for visually restricted individuals, especially in unfamiliar surroundings. Existing assistive tools are often expensive, bulky, or complex to operate. With recent advancements in embedded systems and artificial intelligence, it has become possible to design compact and efficient navigation aids.</a:t>
            </a:r>
          </a:p>
          <a:p>
            <a:pPr algn="just"/>
            <a:endParaRPr lang="en-US" sz="1600" dirty="0"/>
          </a:p>
          <a:p>
            <a:pPr algn="just"/>
            <a:r>
              <a:rPr lang="en-US" sz="1600" dirty="0"/>
              <a:t>NAVRAAH aims to utilize these technologies to provide a simple, reliable, and cost-effective assistive navigation solution that improves user independence and safety.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80" name="Google Shape;180;p29"/>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81" name="Google Shape;181;p29"/>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82" name="Google Shape;182;p29"/>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83" name="Google Shape;183;p29"/>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84" name="Google Shape;184;p29"/>
          <p:cNvSpPr txBox="1"/>
          <p:nvPr/>
        </p:nvSpPr>
        <p:spPr>
          <a:xfrm>
            <a:off x="-8850" y="164450"/>
            <a:ext cx="5580900" cy="531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3000" b="1" dirty="0">
                <a:solidFill>
                  <a:schemeClr val="dk1"/>
                </a:solidFill>
                <a:latin typeface="Times New Roman"/>
                <a:ea typeface="Times New Roman"/>
                <a:cs typeface="Times New Roman"/>
                <a:sym typeface="Times New Roman"/>
              </a:rPr>
              <a:t>Problem Statement</a:t>
            </a:r>
            <a:endParaRPr sz="3000" b="1" dirty="0">
              <a:solidFill>
                <a:schemeClr val="dk1"/>
              </a:solidFill>
              <a:latin typeface="Times New Roman"/>
              <a:ea typeface="Times New Roman"/>
              <a:cs typeface="Times New Roman"/>
              <a:sym typeface="Times New Roman"/>
            </a:endParaRPr>
          </a:p>
        </p:txBody>
      </p:sp>
      <p:sp>
        <p:nvSpPr>
          <p:cNvPr id="185" name="Google Shape;185;p29"/>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4</a:t>
            </a:r>
            <a:endParaRPr sz="1400" dirty="0">
              <a:solidFill>
                <a:schemeClr val="lt1"/>
              </a:solidFill>
              <a:latin typeface="Arial"/>
              <a:ea typeface="Arial"/>
              <a:cs typeface="Arial"/>
              <a:sym typeface="Arial"/>
            </a:endParaRPr>
          </a:p>
        </p:txBody>
      </p:sp>
      <p:sp>
        <p:nvSpPr>
          <p:cNvPr id="186" name="Google Shape;186;p29"/>
          <p:cNvSpPr txBox="1"/>
          <p:nvPr/>
        </p:nvSpPr>
        <p:spPr>
          <a:xfrm>
            <a:off x="486153" y="1808623"/>
            <a:ext cx="8427388" cy="1661963"/>
          </a:xfrm>
          <a:prstGeom prst="rect">
            <a:avLst/>
          </a:prstGeom>
          <a:noFill/>
          <a:ln>
            <a:noFill/>
          </a:ln>
        </p:spPr>
        <p:txBody>
          <a:bodyPr spcFirstLastPara="1" wrap="square" lIns="91425" tIns="91425" rIns="91425" bIns="91425" anchor="t" anchorCtr="0">
            <a:spAutoFit/>
          </a:bodyPr>
          <a:lstStyle/>
          <a:p>
            <a:pPr algn="just"/>
            <a:r>
              <a:rPr lang="en-US" sz="1600" dirty="0"/>
              <a:t>Visually restricted individuals experience difficulties in detecting obstacles, identifying objects, and deciding safe movement directions. Conventional aids provide limited environmental awareness and lack intelligent guidance.</a:t>
            </a:r>
          </a:p>
          <a:p>
            <a:pPr algn="just"/>
            <a:endParaRPr lang="en-US" sz="1600" dirty="0"/>
          </a:p>
          <a:p>
            <a:pPr algn="just"/>
            <a:r>
              <a:rPr lang="en-US" sz="1600" dirty="0"/>
              <a:t>There is a need for an affordable, portable, and intelligent navigation system that can assist visually restricted users in real time without relying on internet connectivity.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0"/>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2" name="Google Shape;192;p30"/>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3" name="Google Shape;193;p30"/>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4" name="Google Shape;194;p30"/>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5" name="Google Shape;195;p30"/>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6" name="Google Shape;196;p30"/>
          <p:cNvSpPr txBox="1"/>
          <p:nvPr/>
        </p:nvSpPr>
        <p:spPr>
          <a:xfrm>
            <a:off x="-8850" y="164450"/>
            <a:ext cx="5580900" cy="531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3000" b="1" dirty="0">
                <a:solidFill>
                  <a:schemeClr val="dk1"/>
                </a:solidFill>
                <a:latin typeface="Times New Roman"/>
                <a:ea typeface="Times New Roman"/>
                <a:cs typeface="Times New Roman"/>
                <a:sym typeface="Times New Roman"/>
              </a:rPr>
              <a:t>Objectives</a:t>
            </a:r>
            <a:endParaRPr sz="3000" b="1" dirty="0">
              <a:solidFill>
                <a:schemeClr val="dk1"/>
              </a:solidFill>
              <a:latin typeface="Times New Roman"/>
              <a:ea typeface="Times New Roman"/>
              <a:cs typeface="Times New Roman"/>
              <a:sym typeface="Times New Roman"/>
            </a:endParaRPr>
          </a:p>
        </p:txBody>
      </p:sp>
      <p:sp>
        <p:nvSpPr>
          <p:cNvPr id="197" name="Google Shape;197;p30"/>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5</a:t>
            </a:r>
            <a:endParaRPr sz="1400" dirty="0">
              <a:solidFill>
                <a:schemeClr val="lt1"/>
              </a:solidFill>
              <a:latin typeface="Arial"/>
              <a:ea typeface="Arial"/>
              <a:cs typeface="Arial"/>
              <a:sym typeface="Arial"/>
            </a:endParaRPr>
          </a:p>
        </p:txBody>
      </p:sp>
      <p:sp>
        <p:nvSpPr>
          <p:cNvPr id="7" name="Rectangle 1">
            <a:extLst>
              <a:ext uri="{FF2B5EF4-FFF2-40B4-BE49-F238E27FC236}">
                <a16:creationId xmlns:a16="http://schemas.microsoft.com/office/drawing/2014/main" id="{FF2923E5-5E27-F0FA-4225-DDE3BE66BEFB}"/>
              </a:ext>
            </a:extLst>
          </p:cNvPr>
          <p:cNvSpPr txBox="1">
            <a:spLocks noChangeArrowheads="1"/>
          </p:cNvSpPr>
          <p:nvPr/>
        </p:nvSpPr>
        <p:spPr bwMode="auto">
          <a:xfrm>
            <a:off x="1038922" y="1556087"/>
            <a:ext cx="726673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800" dirty="0"/>
              <a:t>The objectives of the NAVRAAH project are as follows:</a:t>
            </a:r>
          </a:p>
          <a:p>
            <a:pPr algn="just"/>
            <a:r>
              <a:rPr lang="en-US" sz="1800" dirty="0"/>
              <a:t>• To detect obstacles in front of the user</a:t>
            </a:r>
            <a:br>
              <a:rPr lang="en-US" sz="1800" dirty="0"/>
            </a:br>
            <a:r>
              <a:rPr lang="en-US" sz="1800" dirty="0"/>
              <a:t>• To identify common objects such as people, chairs, walls, and stairs</a:t>
            </a:r>
            <a:br>
              <a:rPr lang="en-US" sz="1800" dirty="0"/>
            </a:br>
            <a:r>
              <a:rPr lang="en-US" sz="1800" dirty="0"/>
              <a:t>• To measure the distance between the user and obstacles</a:t>
            </a:r>
            <a:br>
              <a:rPr lang="en-US" sz="1800" dirty="0"/>
            </a:br>
            <a:r>
              <a:rPr lang="en-US" sz="1800" dirty="0"/>
              <a:t>• To provide left or right navigation guidance</a:t>
            </a:r>
            <a:br>
              <a:rPr lang="en-US" sz="1800" dirty="0"/>
            </a:br>
            <a:r>
              <a:rPr lang="en-US" sz="1800" dirty="0"/>
              <a:t>• To generate voice and vibration alerts</a:t>
            </a:r>
            <a:br>
              <a:rPr lang="en-US" sz="1800" dirty="0"/>
            </a:br>
            <a:r>
              <a:rPr lang="en-US" sz="1800" dirty="0"/>
              <a:t>• To design a compact and user-friendly wearable device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25DB5747-8A8E-1742-CBBC-67F1B9CDA038}"/>
            </a:ext>
          </a:extLst>
        </p:cNvPr>
        <p:cNvGrpSpPr/>
        <p:nvPr/>
      </p:nvGrpSpPr>
      <p:grpSpPr>
        <a:xfrm>
          <a:off x="0" y="0"/>
          <a:ext cx="0" cy="0"/>
          <a:chOff x="0" y="0"/>
          <a:chExt cx="0" cy="0"/>
        </a:xfrm>
      </p:grpSpPr>
      <p:sp>
        <p:nvSpPr>
          <p:cNvPr id="191" name="Google Shape;191;p30">
            <a:extLst>
              <a:ext uri="{FF2B5EF4-FFF2-40B4-BE49-F238E27FC236}">
                <a16:creationId xmlns:a16="http://schemas.microsoft.com/office/drawing/2014/main" id="{EB2C4BCB-AD01-0709-2500-748864061740}"/>
              </a:ext>
            </a:extLst>
          </p:cNvPr>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2" name="Google Shape;192;p30">
            <a:extLst>
              <a:ext uri="{FF2B5EF4-FFF2-40B4-BE49-F238E27FC236}">
                <a16:creationId xmlns:a16="http://schemas.microsoft.com/office/drawing/2014/main" id="{595A489D-D150-B40A-0C4B-0DC5335B290E}"/>
              </a:ext>
            </a:extLst>
          </p:cNvPr>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3" name="Google Shape;193;p30">
            <a:extLst>
              <a:ext uri="{FF2B5EF4-FFF2-40B4-BE49-F238E27FC236}">
                <a16:creationId xmlns:a16="http://schemas.microsoft.com/office/drawing/2014/main" id="{435A987C-8E61-8990-FB23-D4080BC31987}"/>
              </a:ext>
            </a:extLst>
          </p:cNvPr>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4" name="Google Shape;194;p30">
            <a:extLst>
              <a:ext uri="{FF2B5EF4-FFF2-40B4-BE49-F238E27FC236}">
                <a16:creationId xmlns:a16="http://schemas.microsoft.com/office/drawing/2014/main" id="{90B1A389-FA02-6A2C-854C-1F803160007A}"/>
              </a:ext>
            </a:extLst>
          </p:cNvPr>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5" name="Google Shape;195;p30">
            <a:extLst>
              <a:ext uri="{FF2B5EF4-FFF2-40B4-BE49-F238E27FC236}">
                <a16:creationId xmlns:a16="http://schemas.microsoft.com/office/drawing/2014/main" id="{10DCD684-2871-6E5F-7EFA-EDF6DC65B069}"/>
              </a:ext>
            </a:extLst>
          </p:cNvPr>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6" name="Google Shape;196;p30">
            <a:extLst>
              <a:ext uri="{FF2B5EF4-FFF2-40B4-BE49-F238E27FC236}">
                <a16:creationId xmlns:a16="http://schemas.microsoft.com/office/drawing/2014/main" id="{90AE9101-E540-9C35-4799-A02C6615C929}"/>
              </a:ext>
            </a:extLst>
          </p:cNvPr>
          <p:cNvSpPr txBox="1"/>
          <p:nvPr/>
        </p:nvSpPr>
        <p:spPr>
          <a:xfrm>
            <a:off x="-8850" y="164450"/>
            <a:ext cx="5580900" cy="531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3000" b="1" dirty="0">
                <a:solidFill>
                  <a:schemeClr val="dk1"/>
                </a:solidFill>
                <a:latin typeface="Times New Roman"/>
                <a:ea typeface="Times New Roman"/>
                <a:cs typeface="Times New Roman"/>
                <a:sym typeface="Times New Roman"/>
              </a:rPr>
              <a:t>Proposed System</a:t>
            </a:r>
            <a:endParaRPr sz="3000" b="1" dirty="0">
              <a:solidFill>
                <a:schemeClr val="dk1"/>
              </a:solidFill>
              <a:latin typeface="Times New Roman"/>
              <a:ea typeface="Times New Roman"/>
              <a:cs typeface="Times New Roman"/>
              <a:sym typeface="Times New Roman"/>
            </a:endParaRPr>
          </a:p>
        </p:txBody>
      </p:sp>
      <p:sp>
        <p:nvSpPr>
          <p:cNvPr id="197" name="Google Shape;197;p30">
            <a:extLst>
              <a:ext uri="{FF2B5EF4-FFF2-40B4-BE49-F238E27FC236}">
                <a16:creationId xmlns:a16="http://schemas.microsoft.com/office/drawing/2014/main" id="{6D4840C4-4172-6DE1-4206-67BDC5F56C63}"/>
              </a:ext>
            </a:extLst>
          </p:cNvPr>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5</a:t>
            </a:r>
            <a:endParaRPr sz="1400" dirty="0">
              <a:solidFill>
                <a:schemeClr val="lt1"/>
              </a:solidFill>
              <a:latin typeface="Arial"/>
              <a:ea typeface="Arial"/>
              <a:cs typeface="Arial"/>
              <a:sym typeface="Arial"/>
            </a:endParaRPr>
          </a:p>
        </p:txBody>
      </p:sp>
      <p:sp>
        <p:nvSpPr>
          <p:cNvPr id="7" name="Rectangle 1">
            <a:extLst>
              <a:ext uri="{FF2B5EF4-FFF2-40B4-BE49-F238E27FC236}">
                <a16:creationId xmlns:a16="http://schemas.microsoft.com/office/drawing/2014/main" id="{D1B461B7-9771-E248-AD8C-DA6C06FB23AB}"/>
              </a:ext>
            </a:extLst>
          </p:cNvPr>
          <p:cNvSpPr txBox="1">
            <a:spLocks noChangeArrowheads="1"/>
          </p:cNvSpPr>
          <p:nvPr/>
        </p:nvSpPr>
        <p:spPr bwMode="auto">
          <a:xfrm>
            <a:off x="1270309" y="1659989"/>
            <a:ext cx="660338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800" dirty="0"/>
              <a:t>NAVRAAH is a Raspberry Pi–based embedded assistive system that integrates a camera module, distance sensors, and audio output. The camera captures real-time visual data, which is processed using machine learning models to identify objects.</a:t>
            </a:r>
          </a:p>
          <a:p>
            <a:pPr algn="just"/>
            <a:r>
              <a:rPr lang="en-US" sz="1800" dirty="0"/>
              <a:t>Distance sensors calculate the proximity of obstacles. Based on this information, the system generates spoken navigation instructions and vibration alerts to guide the user safely.</a:t>
            </a:r>
          </a:p>
        </p:txBody>
      </p:sp>
    </p:spTree>
    <p:extLst>
      <p:ext uri="{BB962C8B-B14F-4D97-AF65-F5344CB8AC3E}">
        <p14:creationId xmlns:p14="http://schemas.microsoft.com/office/powerpoint/2010/main" val="1110090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7FC6A89C-4D4F-CD8A-7536-903F1F3D32DC}"/>
            </a:ext>
          </a:extLst>
        </p:cNvPr>
        <p:cNvGrpSpPr/>
        <p:nvPr/>
      </p:nvGrpSpPr>
      <p:grpSpPr>
        <a:xfrm>
          <a:off x="0" y="0"/>
          <a:ext cx="0" cy="0"/>
          <a:chOff x="0" y="0"/>
          <a:chExt cx="0" cy="0"/>
        </a:xfrm>
      </p:grpSpPr>
      <p:sp>
        <p:nvSpPr>
          <p:cNvPr id="191" name="Google Shape;191;p30">
            <a:extLst>
              <a:ext uri="{FF2B5EF4-FFF2-40B4-BE49-F238E27FC236}">
                <a16:creationId xmlns:a16="http://schemas.microsoft.com/office/drawing/2014/main" id="{550610FF-9AD9-6009-3E98-00DDCEF25981}"/>
              </a:ext>
            </a:extLst>
          </p:cNvPr>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2" name="Google Shape;192;p30">
            <a:extLst>
              <a:ext uri="{FF2B5EF4-FFF2-40B4-BE49-F238E27FC236}">
                <a16:creationId xmlns:a16="http://schemas.microsoft.com/office/drawing/2014/main" id="{5410D209-F5C3-B9D2-71B6-51CC1154EFDB}"/>
              </a:ext>
            </a:extLst>
          </p:cNvPr>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3" name="Google Shape;193;p30">
            <a:extLst>
              <a:ext uri="{FF2B5EF4-FFF2-40B4-BE49-F238E27FC236}">
                <a16:creationId xmlns:a16="http://schemas.microsoft.com/office/drawing/2014/main" id="{327A76F9-2715-47B5-2F11-A41BD449CB65}"/>
              </a:ext>
            </a:extLst>
          </p:cNvPr>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4" name="Google Shape;194;p30">
            <a:extLst>
              <a:ext uri="{FF2B5EF4-FFF2-40B4-BE49-F238E27FC236}">
                <a16:creationId xmlns:a16="http://schemas.microsoft.com/office/drawing/2014/main" id="{D5F42A89-8AFF-141B-6422-A7243D255162}"/>
              </a:ext>
            </a:extLst>
          </p:cNvPr>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5" name="Google Shape;195;p30">
            <a:extLst>
              <a:ext uri="{FF2B5EF4-FFF2-40B4-BE49-F238E27FC236}">
                <a16:creationId xmlns:a16="http://schemas.microsoft.com/office/drawing/2014/main" id="{08BACB63-6E97-D9D7-3C37-7E515F4D9084}"/>
              </a:ext>
            </a:extLst>
          </p:cNvPr>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6" name="Google Shape;196;p30">
            <a:extLst>
              <a:ext uri="{FF2B5EF4-FFF2-40B4-BE49-F238E27FC236}">
                <a16:creationId xmlns:a16="http://schemas.microsoft.com/office/drawing/2014/main" id="{D5330E6E-7899-6905-EDAD-7641D8FCF485}"/>
              </a:ext>
            </a:extLst>
          </p:cNvPr>
          <p:cNvSpPr txBox="1"/>
          <p:nvPr/>
        </p:nvSpPr>
        <p:spPr>
          <a:xfrm>
            <a:off x="-8850" y="164450"/>
            <a:ext cx="5580900" cy="561662"/>
          </a:xfrm>
          <a:prstGeom prst="rect">
            <a:avLst/>
          </a:prstGeom>
          <a:noFill/>
          <a:ln>
            <a:noFill/>
          </a:ln>
        </p:spPr>
        <p:txBody>
          <a:bodyPr spcFirstLastPara="1" wrap="square" lIns="68575" tIns="34275" rIns="68575" bIns="34275" anchor="t" anchorCtr="0">
            <a:spAutoFit/>
          </a:bodyPr>
          <a:lstStyle/>
          <a:p>
            <a:pPr lvl="0"/>
            <a:r>
              <a:rPr lang="en-IN" sz="3200" dirty="0"/>
              <a:t>SYSTEM ARCHITECTURE</a:t>
            </a:r>
            <a:endParaRPr sz="3000" b="1" dirty="0">
              <a:solidFill>
                <a:schemeClr val="dk1"/>
              </a:solidFill>
              <a:latin typeface="Times New Roman"/>
              <a:ea typeface="Times New Roman"/>
              <a:cs typeface="Times New Roman"/>
              <a:sym typeface="Times New Roman"/>
            </a:endParaRPr>
          </a:p>
        </p:txBody>
      </p:sp>
      <p:sp>
        <p:nvSpPr>
          <p:cNvPr id="197" name="Google Shape;197;p30">
            <a:extLst>
              <a:ext uri="{FF2B5EF4-FFF2-40B4-BE49-F238E27FC236}">
                <a16:creationId xmlns:a16="http://schemas.microsoft.com/office/drawing/2014/main" id="{63E8A397-8430-B903-62C3-1B30EA748710}"/>
              </a:ext>
            </a:extLst>
          </p:cNvPr>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5</a:t>
            </a:r>
            <a:endParaRPr sz="1400" dirty="0">
              <a:solidFill>
                <a:schemeClr val="lt1"/>
              </a:solidFill>
              <a:latin typeface="Arial"/>
              <a:ea typeface="Arial"/>
              <a:cs typeface="Arial"/>
              <a:sym typeface="Arial"/>
            </a:endParaRPr>
          </a:p>
        </p:txBody>
      </p:sp>
      <p:sp>
        <p:nvSpPr>
          <p:cNvPr id="7" name="Rectangle 1">
            <a:extLst>
              <a:ext uri="{FF2B5EF4-FFF2-40B4-BE49-F238E27FC236}">
                <a16:creationId xmlns:a16="http://schemas.microsoft.com/office/drawing/2014/main" id="{E1CF9ABF-B9B1-F95B-306C-64BA686E3466}"/>
              </a:ext>
            </a:extLst>
          </p:cNvPr>
          <p:cNvSpPr txBox="1">
            <a:spLocks noChangeArrowheads="1"/>
          </p:cNvSpPr>
          <p:nvPr/>
        </p:nvSpPr>
        <p:spPr bwMode="auto">
          <a:xfrm>
            <a:off x="1270309" y="1521490"/>
            <a:ext cx="660338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r>
              <a:rPr lang="en-IN" sz="1800" b="1" dirty="0"/>
              <a:t>Input Layer:</a:t>
            </a:r>
            <a:br>
              <a:rPr lang="en-IN" sz="1800" dirty="0"/>
            </a:br>
            <a:r>
              <a:rPr lang="en-IN" sz="1800" dirty="0"/>
              <a:t>Camera module and distance sensors for environmental data acquisition</a:t>
            </a:r>
          </a:p>
          <a:p>
            <a:pPr marL="285750" indent="-285750">
              <a:buFont typeface="Arial" panose="020B0604020202020204" pitchFamily="34" charset="0"/>
              <a:buChar char="•"/>
            </a:pPr>
            <a:r>
              <a:rPr lang="en-IN" sz="1800" b="1" dirty="0"/>
              <a:t>Processing Layer:</a:t>
            </a:r>
            <a:br>
              <a:rPr lang="en-IN" sz="1800" dirty="0"/>
            </a:br>
            <a:r>
              <a:rPr lang="en-IN" sz="1800" dirty="0"/>
              <a:t>Raspberry Pi running image processing and machine learning algorithms</a:t>
            </a:r>
          </a:p>
          <a:p>
            <a:pPr marL="285750" indent="-285750">
              <a:buFont typeface="Arial" panose="020B0604020202020204" pitchFamily="34" charset="0"/>
              <a:buChar char="•"/>
            </a:pPr>
            <a:r>
              <a:rPr lang="en-IN" sz="1800" b="1" dirty="0"/>
              <a:t>Output Layer:</a:t>
            </a:r>
            <a:br>
              <a:rPr lang="en-IN" sz="1800" dirty="0"/>
            </a:br>
            <a:r>
              <a:rPr lang="en-IN" sz="1800" dirty="0"/>
              <a:t>Speaker and vibration motor for real-time user feedback</a:t>
            </a:r>
          </a:p>
        </p:txBody>
      </p:sp>
    </p:spTree>
    <p:extLst>
      <p:ext uri="{BB962C8B-B14F-4D97-AF65-F5344CB8AC3E}">
        <p14:creationId xmlns:p14="http://schemas.microsoft.com/office/powerpoint/2010/main" val="3436962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D3083898-CEAB-EFB1-70EF-DD09A27743D1}"/>
            </a:ext>
          </a:extLst>
        </p:cNvPr>
        <p:cNvGrpSpPr/>
        <p:nvPr/>
      </p:nvGrpSpPr>
      <p:grpSpPr>
        <a:xfrm>
          <a:off x="0" y="0"/>
          <a:ext cx="0" cy="0"/>
          <a:chOff x="0" y="0"/>
          <a:chExt cx="0" cy="0"/>
        </a:xfrm>
      </p:grpSpPr>
      <p:sp>
        <p:nvSpPr>
          <p:cNvPr id="191" name="Google Shape;191;p30">
            <a:extLst>
              <a:ext uri="{FF2B5EF4-FFF2-40B4-BE49-F238E27FC236}">
                <a16:creationId xmlns:a16="http://schemas.microsoft.com/office/drawing/2014/main" id="{0C60F6AC-A861-E8FC-4822-C6F86D5F2BA6}"/>
              </a:ext>
            </a:extLst>
          </p:cNvPr>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2" name="Google Shape;192;p30">
            <a:extLst>
              <a:ext uri="{FF2B5EF4-FFF2-40B4-BE49-F238E27FC236}">
                <a16:creationId xmlns:a16="http://schemas.microsoft.com/office/drawing/2014/main" id="{35EBA7FA-FA6A-E9A8-1F99-55D923FA1E6D}"/>
              </a:ext>
            </a:extLst>
          </p:cNvPr>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3" name="Google Shape;193;p30">
            <a:extLst>
              <a:ext uri="{FF2B5EF4-FFF2-40B4-BE49-F238E27FC236}">
                <a16:creationId xmlns:a16="http://schemas.microsoft.com/office/drawing/2014/main" id="{6D879281-1A23-3FD5-48AB-1969914801EC}"/>
              </a:ext>
            </a:extLst>
          </p:cNvPr>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4" name="Google Shape;194;p30">
            <a:extLst>
              <a:ext uri="{FF2B5EF4-FFF2-40B4-BE49-F238E27FC236}">
                <a16:creationId xmlns:a16="http://schemas.microsoft.com/office/drawing/2014/main" id="{49757B02-5037-43E5-3D61-387A9F1514A6}"/>
              </a:ext>
            </a:extLst>
          </p:cNvPr>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5" name="Google Shape;195;p30">
            <a:extLst>
              <a:ext uri="{FF2B5EF4-FFF2-40B4-BE49-F238E27FC236}">
                <a16:creationId xmlns:a16="http://schemas.microsoft.com/office/drawing/2014/main" id="{0A9BF179-38AD-D65C-11A8-7B09A6671842}"/>
              </a:ext>
            </a:extLst>
          </p:cNvPr>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6" name="Google Shape;196;p30">
            <a:extLst>
              <a:ext uri="{FF2B5EF4-FFF2-40B4-BE49-F238E27FC236}">
                <a16:creationId xmlns:a16="http://schemas.microsoft.com/office/drawing/2014/main" id="{5FC00516-867D-AC2E-F15C-54CC9D61F0F6}"/>
              </a:ext>
            </a:extLst>
          </p:cNvPr>
          <p:cNvSpPr txBox="1"/>
          <p:nvPr/>
        </p:nvSpPr>
        <p:spPr>
          <a:xfrm>
            <a:off x="-8850" y="164450"/>
            <a:ext cx="5580900" cy="561662"/>
          </a:xfrm>
          <a:prstGeom prst="rect">
            <a:avLst/>
          </a:prstGeom>
          <a:noFill/>
          <a:ln>
            <a:noFill/>
          </a:ln>
        </p:spPr>
        <p:txBody>
          <a:bodyPr spcFirstLastPara="1" wrap="square" lIns="68575" tIns="34275" rIns="68575" bIns="34275" anchor="t" anchorCtr="0">
            <a:spAutoFit/>
          </a:bodyPr>
          <a:lstStyle/>
          <a:p>
            <a:pPr lvl="0"/>
            <a:r>
              <a:rPr lang="en-IN" sz="3200" dirty="0"/>
              <a:t>HARDWARE COMPONENTS</a:t>
            </a:r>
            <a:endParaRPr sz="3000" b="1" dirty="0">
              <a:solidFill>
                <a:schemeClr val="dk1"/>
              </a:solidFill>
              <a:latin typeface="Times New Roman"/>
              <a:ea typeface="Times New Roman"/>
              <a:cs typeface="Times New Roman"/>
              <a:sym typeface="Times New Roman"/>
            </a:endParaRPr>
          </a:p>
        </p:txBody>
      </p:sp>
      <p:sp>
        <p:nvSpPr>
          <p:cNvPr id="197" name="Google Shape;197;p30">
            <a:extLst>
              <a:ext uri="{FF2B5EF4-FFF2-40B4-BE49-F238E27FC236}">
                <a16:creationId xmlns:a16="http://schemas.microsoft.com/office/drawing/2014/main" id="{C578E6AD-DA91-2323-AEE9-0FCE720CD647}"/>
              </a:ext>
            </a:extLst>
          </p:cNvPr>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5</a:t>
            </a:r>
            <a:endParaRPr sz="1400" dirty="0">
              <a:solidFill>
                <a:schemeClr val="lt1"/>
              </a:solidFill>
              <a:latin typeface="Arial"/>
              <a:ea typeface="Arial"/>
              <a:cs typeface="Arial"/>
              <a:sym typeface="Arial"/>
            </a:endParaRPr>
          </a:p>
        </p:txBody>
      </p:sp>
      <p:sp>
        <p:nvSpPr>
          <p:cNvPr id="7" name="Rectangle 1">
            <a:extLst>
              <a:ext uri="{FF2B5EF4-FFF2-40B4-BE49-F238E27FC236}">
                <a16:creationId xmlns:a16="http://schemas.microsoft.com/office/drawing/2014/main" id="{4A477FB7-90D0-B54C-D568-10CEDB618065}"/>
              </a:ext>
            </a:extLst>
          </p:cNvPr>
          <p:cNvSpPr txBox="1">
            <a:spLocks noChangeArrowheads="1"/>
          </p:cNvSpPr>
          <p:nvPr/>
        </p:nvSpPr>
        <p:spPr bwMode="auto">
          <a:xfrm>
            <a:off x="542692" y="1091719"/>
            <a:ext cx="7725007"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600" dirty="0"/>
              <a:t>The hardware components used in NAVRAAH include:</a:t>
            </a:r>
          </a:p>
          <a:p>
            <a:r>
              <a:rPr lang="en-IN" sz="1600" dirty="0"/>
              <a:t>• </a:t>
            </a:r>
            <a:r>
              <a:rPr lang="en-IN" sz="1600" b="1" dirty="0"/>
              <a:t>Raspberry Pi Zero 2 W</a:t>
            </a:r>
            <a:r>
              <a:rPr lang="en-IN" sz="1600" dirty="0"/>
              <a:t> – Central processing and control unit</a:t>
            </a:r>
            <a:br>
              <a:rPr lang="en-IN" sz="1600" dirty="0"/>
            </a:br>
            <a:r>
              <a:rPr lang="en-IN" sz="1600" dirty="0"/>
              <a:t>• </a:t>
            </a:r>
            <a:r>
              <a:rPr lang="en-IN" sz="1600" b="1" dirty="0"/>
              <a:t>MicroSD Card (16–32 GB)</a:t>
            </a:r>
            <a:r>
              <a:rPr lang="en-IN" sz="1600" dirty="0"/>
              <a:t> – Operating system and program storage</a:t>
            </a:r>
            <a:br>
              <a:rPr lang="en-IN" sz="1600" dirty="0"/>
            </a:br>
            <a:r>
              <a:rPr lang="en-IN" sz="1600" dirty="0"/>
              <a:t>• </a:t>
            </a:r>
            <a:r>
              <a:rPr lang="en-IN" sz="1600" b="1" dirty="0"/>
              <a:t>Camera Module</a:t>
            </a:r>
            <a:r>
              <a:rPr lang="en-IN" sz="1600" dirty="0"/>
              <a:t> – Real-time image and video capture</a:t>
            </a:r>
            <a:br>
              <a:rPr lang="en-IN" sz="1600" dirty="0"/>
            </a:br>
            <a:r>
              <a:rPr lang="en-IN" sz="1600" dirty="0"/>
              <a:t>• </a:t>
            </a:r>
            <a:r>
              <a:rPr lang="en-IN" sz="1600" b="1" dirty="0"/>
              <a:t>Ultrasonic Sensor / Laser </a:t>
            </a:r>
            <a:r>
              <a:rPr lang="en-IN" sz="1600" b="1" dirty="0" err="1"/>
              <a:t>ToF</a:t>
            </a:r>
            <a:r>
              <a:rPr lang="en-IN" sz="1600" b="1" dirty="0"/>
              <a:t> Sensor</a:t>
            </a:r>
            <a:r>
              <a:rPr lang="en-IN" sz="1600" dirty="0"/>
              <a:t> – Distance and obstacle measurement</a:t>
            </a:r>
            <a:br>
              <a:rPr lang="en-IN" sz="1600" dirty="0"/>
            </a:br>
            <a:r>
              <a:rPr lang="en-IN" sz="1600" dirty="0"/>
              <a:t>• </a:t>
            </a:r>
            <a:r>
              <a:rPr lang="en-IN" sz="1600" b="1" dirty="0"/>
              <a:t>Speaker / Earphones</a:t>
            </a:r>
            <a:r>
              <a:rPr lang="en-IN" sz="1600" dirty="0"/>
              <a:t> – Voice-based navigation feedback</a:t>
            </a:r>
            <a:br>
              <a:rPr lang="en-IN" sz="1600" dirty="0"/>
            </a:br>
            <a:r>
              <a:rPr lang="en-IN" sz="1600" dirty="0"/>
              <a:t>• </a:t>
            </a:r>
            <a:r>
              <a:rPr lang="en-IN" sz="1600" b="1" dirty="0"/>
              <a:t>Audio Driver / Amplifier Module</a:t>
            </a:r>
            <a:r>
              <a:rPr lang="en-IN" sz="1600" dirty="0"/>
              <a:t> – Audio signal amplification (if speaker is used)</a:t>
            </a:r>
            <a:br>
              <a:rPr lang="en-IN" sz="1600" dirty="0"/>
            </a:br>
            <a:r>
              <a:rPr lang="en-IN" sz="1600" dirty="0"/>
              <a:t>• </a:t>
            </a:r>
            <a:r>
              <a:rPr lang="en-IN" sz="1600" b="1" dirty="0"/>
              <a:t>Vibration Motor</a:t>
            </a:r>
            <a:r>
              <a:rPr lang="en-IN" sz="1600" dirty="0"/>
              <a:t> – Tactile alert generation</a:t>
            </a:r>
            <a:br>
              <a:rPr lang="en-IN" sz="1600" dirty="0"/>
            </a:br>
            <a:r>
              <a:rPr lang="en-IN" sz="1600" dirty="0"/>
              <a:t>• </a:t>
            </a:r>
            <a:r>
              <a:rPr lang="en-IN" sz="1600" b="1" dirty="0"/>
              <a:t>Li-ion Battery</a:t>
            </a:r>
            <a:r>
              <a:rPr lang="en-IN" sz="1600" dirty="0"/>
              <a:t> – Portable power supply</a:t>
            </a:r>
            <a:br>
              <a:rPr lang="en-IN" sz="1600" dirty="0"/>
            </a:br>
            <a:r>
              <a:rPr lang="en-IN" sz="1600" dirty="0"/>
              <a:t>• </a:t>
            </a:r>
            <a:r>
              <a:rPr lang="en-IN" sz="1600" b="1" dirty="0"/>
              <a:t>Battery Charging and Protection Module</a:t>
            </a:r>
            <a:r>
              <a:rPr lang="en-IN" sz="1600" dirty="0"/>
              <a:t> – Safe charging and power regulation</a:t>
            </a:r>
            <a:br>
              <a:rPr lang="en-IN" sz="1600" dirty="0"/>
            </a:br>
            <a:r>
              <a:rPr lang="en-IN" sz="1600" dirty="0"/>
              <a:t>• </a:t>
            </a:r>
            <a:r>
              <a:rPr lang="en-IN" sz="1600" b="1" dirty="0"/>
              <a:t>Power Switch / Push Button</a:t>
            </a:r>
            <a:r>
              <a:rPr lang="en-IN" sz="1600" dirty="0"/>
              <a:t> – System ON/OFF control</a:t>
            </a:r>
            <a:br>
              <a:rPr lang="en-IN" sz="1600" dirty="0"/>
            </a:br>
            <a:r>
              <a:rPr lang="en-IN" sz="1600" dirty="0"/>
              <a:t>• </a:t>
            </a:r>
            <a:r>
              <a:rPr lang="en-IN" sz="1600" b="1" dirty="0"/>
              <a:t>Jumper Wires and Connectors</a:t>
            </a:r>
            <a:r>
              <a:rPr lang="en-IN" sz="1600" dirty="0"/>
              <a:t> – Hardware interconnections</a:t>
            </a:r>
            <a:br>
              <a:rPr lang="en-IN" sz="1600" dirty="0"/>
            </a:br>
            <a:r>
              <a:rPr lang="en-IN" sz="1600" dirty="0"/>
              <a:t>• </a:t>
            </a:r>
            <a:r>
              <a:rPr lang="en-IN" sz="1600" b="1" dirty="0"/>
              <a:t>Compact Wearable Enclosure</a:t>
            </a:r>
            <a:r>
              <a:rPr lang="en-IN" sz="1600" dirty="0"/>
              <a:t> – Protective casing for the device</a:t>
            </a:r>
          </a:p>
        </p:txBody>
      </p:sp>
    </p:spTree>
    <p:extLst>
      <p:ext uri="{BB962C8B-B14F-4D97-AF65-F5344CB8AC3E}">
        <p14:creationId xmlns:p14="http://schemas.microsoft.com/office/powerpoint/2010/main" val="3362416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0F2C3D39-3579-B3E2-F26B-293418E651CA}"/>
            </a:ext>
          </a:extLst>
        </p:cNvPr>
        <p:cNvGrpSpPr/>
        <p:nvPr/>
      </p:nvGrpSpPr>
      <p:grpSpPr>
        <a:xfrm>
          <a:off x="0" y="0"/>
          <a:ext cx="0" cy="0"/>
          <a:chOff x="0" y="0"/>
          <a:chExt cx="0" cy="0"/>
        </a:xfrm>
      </p:grpSpPr>
      <p:sp>
        <p:nvSpPr>
          <p:cNvPr id="191" name="Google Shape;191;p30">
            <a:extLst>
              <a:ext uri="{FF2B5EF4-FFF2-40B4-BE49-F238E27FC236}">
                <a16:creationId xmlns:a16="http://schemas.microsoft.com/office/drawing/2014/main" id="{F2AD3183-E28E-5054-684D-CED265BD1772}"/>
              </a:ext>
            </a:extLst>
          </p:cNvPr>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2" name="Google Shape;192;p30">
            <a:extLst>
              <a:ext uri="{FF2B5EF4-FFF2-40B4-BE49-F238E27FC236}">
                <a16:creationId xmlns:a16="http://schemas.microsoft.com/office/drawing/2014/main" id="{DBD13B58-3131-F151-DEDA-9736C7DC759B}"/>
              </a:ext>
            </a:extLst>
          </p:cNvPr>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3" name="Google Shape;193;p30">
            <a:extLst>
              <a:ext uri="{FF2B5EF4-FFF2-40B4-BE49-F238E27FC236}">
                <a16:creationId xmlns:a16="http://schemas.microsoft.com/office/drawing/2014/main" id="{23A3938C-C657-CF41-3AAD-879BADD93394}"/>
              </a:ext>
            </a:extLst>
          </p:cNvPr>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4" name="Google Shape;194;p30">
            <a:extLst>
              <a:ext uri="{FF2B5EF4-FFF2-40B4-BE49-F238E27FC236}">
                <a16:creationId xmlns:a16="http://schemas.microsoft.com/office/drawing/2014/main" id="{DA01E419-8928-2A7A-5A56-2B461930816B}"/>
              </a:ext>
            </a:extLst>
          </p:cNvPr>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5" name="Google Shape;195;p30">
            <a:extLst>
              <a:ext uri="{FF2B5EF4-FFF2-40B4-BE49-F238E27FC236}">
                <a16:creationId xmlns:a16="http://schemas.microsoft.com/office/drawing/2014/main" id="{86E375BE-B79E-A502-05F9-7FA603093F3F}"/>
              </a:ext>
            </a:extLst>
          </p:cNvPr>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196" name="Google Shape;196;p30">
            <a:extLst>
              <a:ext uri="{FF2B5EF4-FFF2-40B4-BE49-F238E27FC236}">
                <a16:creationId xmlns:a16="http://schemas.microsoft.com/office/drawing/2014/main" id="{BA9AC3A9-7526-968B-668F-F9226787923F}"/>
              </a:ext>
            </a:extLst>
          </p:cNvPr>
          <p:cNvSpPr txBox="1"/>
          <p:nvPr/>
        </p:nvSpPr>
        <p:spPr>
          <a:xfrm>
            <a:off x="-8850" y="164450"/>
            <a:ext cx="6231230" cy="561662"/>
          </a:xfrm>
          <a:prstGeom prst="rect">
            <a:avLst/>
          </a:prstGeom>
          <a:noFill/>
          <a:ln>
            <a:noFill/>
          </a:ln>
        </p:spPr>
        <p:txBody>
          <a:bodyPr spcFirstLastPara="1" wrap="square" lIns="68575" tIns="34275" rIns="68575" bIns="34275" anchor="t" anchorCtr="0">
            <a:spAutoFit/>
          </a:bodyPr>
          <a:lstStyle/>
          <a:p>
            <a:pPr lvl="0"/>
            <a:r>
              <a:rPr lang="en-IN" sz="3200" dirty="0"/>
              <a:t>SOFTWARE REQUIREMENTS</a:t>
            </a:r>
            <a:endParaRPr sz="3000" b="1" dirty="0">
              <a:solidFill>
                <a:schemeClr val="dk1"/>
              </a:solidFill>
              <a:latin typeface="Times New Roman"/>
              <a:ea typeface="Times New Roman"/>
              <a:cs typeface="Times New Roman"/>
              <a:sym typeface="Times New Roman"/>
            </a:endParaRPr>
          </a:p>
        </p:txBody>
      </p:sp>
      <p:sp>
        <p:nvSpPr>
          <p:cNvPr id="197" name="Google Shape;197;p30">
            <a:extLst>
              <a:ext uri="{FF2B5EF4-FFF2-40B4-BE49-F238E27FC236}">
                <a16:creationId xmlns:a16="http://schemas.microsoft.com/office/drawing/2014/main" id="{3EC5C2AA-BB02-042E-8D6D-37A85744A213}"/>
              </a:ext>
            </a:extLst>
          </p:cNvPr>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5</a:t>
            </a:r>
            <a:endParaRPr sz="1400" dirty="0">
              <a:solidFill>
                <a:schemeClr val="lt1"/>
              </a:solidFill>
              <a:latin typeface="Arial"/>
              <a:ea typeface="Arial"/>
              <a:cs typeface="Arial"/>
              <a:sym typeface="Arial"/>
            </a:endParaRPr>
          </a:p>
        </p:txBody>
      </p:sp>
      <p:sp>
        <p:nvSpPr>
          <p:cNvPr id="7" name="Rectangle 1">
            <a:extLst>
              <a:ext uri="{FF2B5EF4-FFF2-40B4-BE49-F238E27FC236}">
                <a16:creationId xmlns:a16="http://schemas.microsoft.com/office/drawing/2014/main" id="{BC87384A-B1EE-D6FB-373D-73C51B76CD93}"/>
              </a:ext>
            </a:extLst>
          </p:cNvPr>
          <p:cNvSpPr txBox="1">
            <a:spLocks noChangeArrowheads="1"/>
          </p:cNvSpPr>
          <p:nvPr/>
        </p:nvSpPr>
        <p:spPr bwMode="auto">
          <a:xfrm>
            <a:off x="1270309" y="1244491"/>
            <a:ext cx="660338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dirty="0"/>
              <a:t>The </a:t>
            </a:r>
            <a:r>
              <a:rPr lang="en-IN" sz="1800" b="1" dirty="0"/>
              <a:t>NAVRAAH</a:t>
            </a:r>
            <a:r>
              <a:rPr lang="en-IN" sz="1800" dirty="0"/>
              <a:t> system uses open-source software tools and libraries, ensuring no additional licensing cost and easy deployment in an academic environment.</a:t>
            </a:r>
          </a:p>
          <a:p>
            <a:r>
              <a:rPr lang="en-IN" sz="1800" dirty="0"/>
              <a:t>• Operating System: Raspberry Pi OS</a:t>
            </a:r>
            <a:br>
              <a:rPr lang="en-IN" sz="1800" dirty="0"/>
            </a:br>
            <a:r>
              <a:rPr lang="en-IN" sz="1800" dirty="0"/>
              <a:t>• Programming Language: Python</a:t>
            </a:r>
            <a:br>
              <a:rPr lang="en-IN" sz="1800" dirty="0"/>
            </a:br>
            <a:r>
              <a:rPr lang="en-IN" sz="1800" dirty="0"/>
              <a:t>• Image Processing Library: OpenCV</a:t>
            </a:r>
            <a:br>
              <a:rPr lang="en-IN" sz="1800" dirty="0"/>
            </a:br>
            <a:r>
              <a:rPr lang="en-IN" sz="1800" dirty="0"/>
              <a:t>• Machine Learning Framework: TensorFlow Lite</a:t>
            </a:r>
            <a:br>
              <a:rPr lang="en-IN" sz="1800" dirty="0"/>
            </a:br>
            <a:r>
              <a:rPr lang="en-IN" sz="1800" dirty="0"/>
              <a:t>• Object Detection Models: Pre-trained lightweight models</a:t>
            </a:r>
            <a:br>
              <a:rPr lang="en-IN" sz="1800" dirty="0"/>
            </a:br>
            <a:r>
              <a:rPr lang="en-IN" sz="1800" dirty="0"/>
              <a:t>• Audio Output: Text-to-Speech (Offline)</a:t>
            </a:r>
            <a:br>
              <a:rPr lang="en-IN" sz="1800" dirty="0"/>
            </a:br>
            <a:r>
              <a:rPr lang="en-IN" sz="1800" dirty="0"/>
              <a:t>• Development Environment: Thonny / VS Code</a:t>
            </a:r>
          </a:p>
        </p:txBody>
      </p:sp>
    </p:spTree>
    <p:extLst>
      <p:ext uri="{BB962C8B-B14F-4D97-AF65-F5344CB8AC3E}">
        <p14:creationId xmlns:p14="http://schemas.microsoft.com/office/powerpoint/2010/main" val="2124772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FEAE9A9A-FE84-CE3C-994D-5278D7376D73}"/>
            </a:ext>
          </a:extLst>
        </p:cNvPr>
        <p:cNvGrpSpPr/>
        <p:nvPr/>
      </p:nvGrpSpPr>
      <p:grpSpPr>
        <a:xfrm>
          <a:off x="0" y="0"/>
          <a:ext cx="0" cy="0"/>
          <a:chOff x="0" y="0"/>
          <a:chExt cx="0" cy="0"/>
        </a:xfrm>
      </p:grpSpPr>
      <p:sp>
        <p:nvSpPr>
          <p:cNvPr id="191" name="Google Shape;191;p30">
            <a:extLst>
              <a:ext uri="{FF2B5EF4-FFF2-40B4-BE49-F238E27FC236}">
                <a16:creationId xmlns:a16="http://schemas.microsoft.com/office/drawing/2014/main" id="{9B489ED7-269F-FEB2-8B82-79ABF061D730}"/>
              </a:ext>
            </a:extLst>
          </p:cNvPr>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2" name="Google Shape;192;p30">
            <a:extLst>
              <a:ext uri="{FF2B5EF4-FFF2-40B4-BE49-F238E27FC236}">
                <a16:creationId xmlns:a16="http://schemas.microsoft.com/office/drawing/2014/main" id="{99F015E0-30CA-39D1-854A-FD580CEB3E3B}"/>
              </a:ext>
            </a:extLst>
          </p:cNvPr>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3" name="Google Shape;193;p30">
            <a:extLst>
              <a:ext uri="{FF2B5EF4-FFF2-40B4-BE49-F238E27FC236}">
                <a16:creationId xmlns:a16="http://schemas.microsoft.com/office/drawing/2014/main" id="{0C78A7F4-C94F-EBF3-56CA-61EE6D094693}"/>
              </a:ext>
            </a:extLst>
          </p:cNvPr>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4" name="Google Shape;194;p30">
            <a:extLst>
              <a:ext uri="{FF2B5EF4-FFF2-40B4-BE49-F238E27FC236}">
                <a16:creationId xmlns:a16="http://schemas.microsoft.com/office/drawing/2014/main" id="{28B75BD1-129D-C6EE-9610-D6782D9265A2}"/>
              </a:ext>
            </a:extLst>
          </p:cNvPr>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5" name="Google Shape;195;p30">
            <a:extLst>
              <a:ext uri="{FF2B5EF4-FFF2-40B4-BE49-F238E27FC236}">
                <a16:creationId xmlns:a16="http://schemas.microsoft.com/office/drawing/2014/main" id="{BF27E2C4-03AF-91CB-656A-2D4C2D3F1651}"/>
              </a:ext>
            </a:extLst>
          </p:cNvPr>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6" name="Google Shape;196;p30">
            <a:extLst>
              <a:ext uri="{FF2B5EF4-FFF2-40B4-BE49-F238E27FC236}">
                <a16:creationId xmlns:a16="http://schemas.microsoft.com/office/drawing/2014/main" id="{D95D90EE-515E-36B9-043A-1BEE64F5984C}"/>
              </a:ext>
            </a:extLst>
          </p:cNvPr>
          <p:cNvSpPr txBox="1"/>
          <p:nvPr/>
        </p:nvSpPr>
        <p:spPr>
          <a:xfrm>
            <a:off x="-8850" y="164450"/>
            <a:ext cx="5580900" cy="561662"/>
          </a:xfrm>
          <a:prstGeom prst="rect">
            <a:avLst/>
          </a:prstGeom>
          <a:noFill/>
          <a:ln>
            <a:noFill/>
          </a:ln>
        </p:spPr>
        <p:txBody>
          <a:bodyPr spcFirstLastPara="1" wrap="square" lIns="68575" tIns="34275" rIns="68575" bIns="34275" anchor="t" anchorCtr="0">
            <a:spAutoFit/>
          </a:bodyPr>
          <a:lstStyle/>
          <a:p>
            <a:pPr lvl="0"/>
            <a:r>
              <a:rPr lang="en-IN" sz="3200" dirty="0"/>
              <a:t>WORKING OF NAVRAAH</a:t>
            </a:r>
            <a:endParaRPr sz="3000" b="1" dirty="0">
              <a:solidFill>
                <a:schemeClr val="dk1"/>
              </a:solidFill>
              <a:latin typeface="Times New Roman"/>
              <a:ea typeface="Times New Roman"/>
              <a:cs typeface="Times New Roman"/>
              <a:sym typeface="Times New Roman"/>
            </a:endParaRPr>
          </a:p>
        </p:txBody>
      </p:sp>
      <p:sp>
        <p:nvSpPr>
          <p:cNvPr id="197" name="Google Shape;197;p30">
            <a:extLst>
              <a:ext uri="{FF2B5EF4-FFF2-40B4-BE49-F238E27FC236}">
                <a16:creationId xmlns:a16="http://schemas.microsoft.com/office/drawing/2014/main" id="{6D9D898A-762F-1B7B-F871-14476814ADEE}"/>
              </a:ext>
            </a:extLst>
          </p:cNvPr>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5</a:t>
            </a:r>
            <a:endParaRPr sz="1400">
              <a:solidFill>
                <a:schemeClr val="lt1"/>
              </a:solidFill>
              <a:latin typeface="Arial"/>
              <a:ea typeface="Arial"/>
              <a:cs typeface="Arial"/>
              <a:sym typeface="Arial"/>
            </a:endParaRPr>
          </a:p>
        </p:txBody>
      </p:sp>
      <p:sp>
        <p:nvSpPr>
          <p:cNvPr id="7" name="Rectangle 1">
            <a:extLst>
              <a:ext uri="{FF2B5EF4-FFF2-40B4-BE49-F238E27FC236}">
                <a16:creationId xmlns:a16="http://schemas.microsoft.com/office/drawing/2014/main" id="{89CDF47E-24FC-58DD-1264-F6BCD6B2C09D}"/>
              </a:ext>
            </a:extLst>
          </p:cNvPr>
          <p:cNvSpPr txBox="1">
            <a:spLocks noChangeArrowheads="1"/>
          </p:cNvSpPr>
          <p:nvPr/>
        </p:nvSpPr>
        <p:spPr bwMode="auto">
          <a:xfrm>
            <a:off x="1270309" y="1521490"/>
            <a:ext cx="660338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800" dirty="0"/>
              <a:t>The camera continuously captures the surrounding environment. Machine learning models analyze the video frames to detect and identify objects. Distance sensors measure the proximity of obstacles.</a:t>
            </a:r>
          </a:p>
          <a:p>
            <a:pPr algn="just"/>
            <a:endParaRPr lang="en-US" sz="1800" dirty="0"/>
          </a:p>
          <a:p>
            <a:pPr algn="just"/>
            <a:r>
              <a:rPr lang="en-US" sz="1800" dirty="0"/>
              <a:t>The Raspberry Pi processes this information and determines appropriate navigation instructions. Voice commands and vibration alerts are then generated to guide the user safely.</a:t>
            </a:r>
          </a:p>
        </p:txBody>
      </p:sp>
    </p:spTree>
    <p:extLst>
      <p:ext uri="{BB962C8B-B14F-4D97-AF65-F5344CB8AC3E}">
        <p14:creationId xmlns:p14="http://schemas.microsoft.com/office/powerpoint/2010/main" val="3863276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01294584-A6BC-F533-E859-0DF32E64B5E6}"/>
            </a:ext>
          </a:extLst>
        </p:cNvPr>
        <p:cNvGrpSpPr/>
        <p:nvPr/>
      </p:nvGrpSpPr>
      <p:grpSpPr>
        <a:xfrm>
          <a:off x="0" y="0"/>
          <a:ext cx="0" cy="0"/>
          <a:chOff x="0" y="0"/>
          <a:chExt cx="0" cy="0"/>
        </a:xfrm>
      </p:grpSpPr>
      <p:sp>
        <p:nvSpPr>
          <p:cNvPr id="191" name="Google Shape;191;p30">
            <a:extLst>
              <a:ext uri="{FF2B5EF4-FFF2-40B4-BE49-F238E27FC236}">
                <a16:creationId xmlns:a16="http://schemas.microsoft.com/office/drawing/2014/main" id="{D8E9F1EE-089D-94B0-A294-0C4805CE88A2}"/>
              </a:ext>
            </a:extLst>
          </p:cNvPr>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2" name="Google Shape;192;p30">
            <a:extLst>
              <a:ext uri="{FF2B5EF4-FFF2-40B4-BE49-F238E27FC236}">
                <a16:creationId xmlns:a16="http://schemas.microsoft.com/office/drawing/2014/main" id="{6EBD333F-1F70-564A-61D6-FC5EF6FC5982}"/>
              </a:ext>
            </a:extLst>
          </p:cNvPr>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3" name="Google Shape;193;p30">
            <a:extLst>
              <a:ext uri="{FF2B5EF4-FFF2-40B4-BE49-F238E27FC236}">
                <a16:creationId xmlns:a16="http://schemas.microsoft.com/office/drawing/2014/main" id="{E3CE9834-544F-63AA-18DD-BEE6500A3C50}"/>
              </a:ext>
            </a:extLst>
          </p:cNvPr>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4" name="Google Shape;194;p30">
            <a:extLst>
              <a:ext uri="{FF2B5EF4-FFF2-40B4-BE49-F238E27FC236}">
                <a16:creationId xmlns:a16="http://schemas.microsoft.com/office/drawing/2014/main" id="{1CFC410D-1FAB-7067-67BC-24B35D840F3D}"/>
              </a:ext>
            </a:extLst>
          </p:cNvPr>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5" name="Google Shape;195;p30">
            <a:extLst>
              <a:ext uri="{FF2B5EF4-FFF2-40B4-BE49-F238E27FC236}">
                <a16:creationId xmlns:a16="http://schemas.microsoft.com/office/drawing/2014/main" id="{4311ABF4-7F4C-3331-B182-7EC78EDBAA14}"/>
              </a:ext>
            </a:extLst>
          </p:cNvPr>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6" name="Google Shape;196;p30">
            <a:extLst>
              <a:ext uri="{FF2B5EF4-FFF2-40B4-BE49-F238E27FC236}">
                <a16:creationId xmlns:a16="http://schemas.microsoft.com/office/drawing/2014/main" id="{2C35419F-EC07-44F9-5C48-89FE96DF22F1}"/>
              </a:ext>
            </a:extLst>
          </p:cNvPr>
          <p:cNvSpPr txBox="1"/>
          <p:nvPr/>
        </p:nvSpPr>
        <p:spPr>
          <a:xfrm>
            <a:off x="-8850" y="164450"/>
            <a:ext cx="5580900" cy="561662"/>
          </a:xfrm>
          <a:prstGeom prst="rect">
            <a:avLst/>
          </a:prstGeom>
          <a:noFill/>
          <a:ln>
            <a:noFill/>
          </a:ln>
        </p:spPr>
        <p:txBody>
          <a:bodyPr spcFirstLastPara="1" wrap="square" lIns="68575" tIns="34275" rIns="68575" bIns="34275" anchor="t" anchorCtr="0">
            <a:spAutoFit/>
          </a:bodyPr>
          <a:lstStyle/>
          <a:p>
            <a:pPr lvl="0"/>
            <a:r>
              <a:rPr lang="en-IN" sz="3200" dirty="0"/>
              <a:t>APPLICATION OF NAVRAAH</a:t>
            </a:r>
            <a:endParaRPr sz="3000" b="1" dirty="0">
              <a:solidFill>
                <a:schemeClr val="dk1"/>
              </a:solidFill>
              <a:latin typeface="Times New Roman"/>
              <a:ea typeface="Times New Roman"/>
              <a:cs typeface="Times New Roman"/>
              <a:sym typeface="Times New Roman"/>
            </a:endParaRPr>
          </a:p>
        </p:txBody>
      </p:sp>
      <p:sp>
        <p:nvSpPr>
          <p:cNvPr id="197" name="Google Shape;197;p30">
            <a:extLst>
              <a:ext uri="{FF2B5EF4-FFF2-40B4-BE49-F238E27FC236}">
                <a16:creationId xmlns:a16="http://schemas.microsoft.com/office/drawing/2014/main" id="{96F75747-7FFD-FB3B-9B83-87688A8F6D67}"/>
              </a:ext>
            </a:extLst>
          </p:cNvPr>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5</a:t>
            </a:r>
            <a:endParaRPr sz="1400">
              <a:solidFill>
                <a:schemeClr val="lt1"/>
              </a:solidFill>
              <a:latin typeface="Arial"/>
              <a:ea typeface="Arial"/>
              <a:cs typeface="Arial"/>
              <a:sym typeface="Arial"/>
            </a:endParaRPr>
          </a:p>
        </p:txBody>
      </p:sp>
      <p:sp>
        <p:nvSpPr>
          <p:cNvPr id="7" name="Rectangle 1">
            <a:extLst>
              <a:ext uri="{FF2B5EF4-FFF2-40B4-BE49-F238E27FC236}">
                <a16:creationId xmlns:a16="http://schemas.microsoft.com/office/drawing/2014/main" id="{379AB17F-BE3E-F597-ED7E-8CC54CBF24BC}"/>
              </a:ext>
            </a:extLst>
          </p:cNvPr>
          <p:cNvSpPr txBox="1">
            <a:spLocks noChangeArrowheads="1"/>
          </p:cNvSpPr>
          <p:nvPr/>
        </p:nvSpPr>
        <p:spPr bwMode="auto">
          <a:xfrm>
            <a:off x="1270309" y="1936988"/>
            <a:ext cx="660338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dirty="0"/>
              <a:t>NAVRAAH can be used in the following areas:</a:t>
            </a:r>
          </a:p>
          <a:p>
            <a:r>
              <a:rPr lang="en-US" sz="1800" dirty="0"/>
              <a:t>• Assistive navigation for visually restricted individuals</a:t>
            </a:r>
            <a:br>
              <a:rPr lang="en-US" sz="1800" dirty="0"/>
            </a:br>
            <a:r>
              <a:rPr lang="en-US" sz="1800" dirty="0"/>
              <a:t>• Smart wearable mobility aid</a:t>
            </a:r>
            <a:br>
              <a:rPr lang="en-US" sz="1800" dirty="0"/>
            </a:br>
            <a:r>
              <a:rPr lang="en-US" sz="1800" dirty="0"/>
              <a:t>• Rehabilitation and healthcare environments</a:t>
            </a:r>
            <a:br>
              <a:rPr lang="en-US" sz="1800" dirty="0"/>
            </a:br>
            <a:r>
              <a:rPr lang="en-US" sz="1800" dirty="0"/>
              <a:t>• Assistive technology research and development</a:t>
            </a:r>
          </a:p>
        </p:txBody>
      </p:sp>
    </p:spTree>
    <p:extLst>
      <p:ext uri="{BB962C8B-B14F-4D97-AF65-F5344CB8AC3E}">
        <p14:creationId xmlns:p14="http://schemas.microsoft.com/office/powerpoint/2010/main" val="2928362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A794A7C7-F943-0C9E-14CD-5F096DCCDD2B}"/>
            </a:ext>
          </a:extLst>
        </p:cNvPr>
        <p:cNvGrpSpPr/>
        <p:nvPr/>
      </p:nvGrpSpPr>
      <p:grpSpPr>
        <a:xfrm>
          <a:off x="0" y="0"/>
          <a:ext cx="0" cy="0"/>
          <a:chOff x="0" y="0"/>
          <a:chExt cx="0" cy="0"/>
        </a:xfrm>
      </p:grpSpPr>
      <p:sp>
        <p:nvSpPr>
          <p:cNvPr id="191" name="Google Shape;191;p30">
            <a:extLst>
              <a:ext uri="{FF2B5EF4-FFF2-40B4-BE49-F238E27FC236}">
                <a16:creationId xmlns:a16="http://schemas.microsoft.com/office/drawing/2014/main" id="{851C5DC3-6EDF-F49B-27F7-AFD157ACA8C9}"/>
              </a:ext>
            </a:extLst>
          </p:cNvPr>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2" name="Google Shape;192;p30">
            <a:extLst>
              <a:ext uri="{FF2B5EF4-FFF2-40B4-BE49-F238E27FC236}">
                <a16:creationId xmlns:a16="http://schemas.microsoft.com/office/drawing/2014/main" id="{2E53CB15-CDDE-D6EC-688B-155C45BAB8DA}"/>
              </a:ext>
            </a:extLst>
          </p:cNvPr>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3" name="Google Shape;193;p30">
            <a:extLst>
              <a:ext uri="{FF2B5EF4-FFF2-40B4-BE49-F238E27FC236}">
                <a16:creationId xmlns:a16="http://schemas.microsoft.com/office/drawing/2014/main" id="{66B3C83C-295F-C287-20B1-0229D1CA5B2C}"/>
              </a:ext>
            </a:extLst>
          </p:cNvPr>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4" name="Google Shape;194;p30">
            <a:extLst>
              <a:ext uri="{FF2B5EF4-FFF2-40B4-BE49-F238E27FC236}">
                <a16:creationId xmlns:a16="http://schemas.microsoft.com/office/drawing/2014/main" id="{47079B3A-60CE-8620-F6E7-D44BA99429B0}"/>
              </a:ext>
            </a:extLst>
          </p:cNvPr>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5" name="Google Shape;195;p30">
            <a:extLst>
              <a:ext uri="{FF2B5EF4-FFF2-40B4-BE49-F238E27FC236}">
                <a16:creationId xmlns:a16="http://schemas.microsoft.com/office/drawing/2014/main" id="{7D1F5996-C9D5-A16B-772E-F0F8C19C0358}"/>
              </a:ext>
            </a:extLst>
          </p:cNvPr>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6" name="Google Shape;196;p30">
            <a:extLst>
              <a:ext uri="{FF2B5EF4-FFF2-40B4-BE49-F238E27FC236}">
                <a16:creationId xmlns:a16="http://schemas.microsoft.com/office/drawing/2014/main" id="{7A95B3C3-3715-68D7-6E11-766B5C619D37}"/>
              </a:ext>
            </a:extLst>
          </p:cNvPr>
          <p:cNvSpPr txBox="1"/>
          <p:nvPr/>
        </p:nvSpPr>
        <p:spPr>
          <a:xfrm>
            <a:off x="-8850" y="164450"/>
            <a:ext cx="5807484" cy="561662"/>
          </a:xfrm>
          <a:prstGeom prst="rect">
            <a:avLst/>
          </a:prstGeom>
          <a:noFill/>
          <a:ln>
            <a:noFill/>
          </a:ln>
        </p:spPr>
        <p:txBody>
          <a:bodyPr spcFirstLastPara="1" wrap="square" lIns="68575" tIns="34275" rIns="68575" bIns="34275" anchor="t" anchorCtr="0">
            <a:spAutoFit/>
          </a:bodyPr>
          <a:lstStyle/>
          <a:p>
            <a:pPr lvl="0"/>
            <a:r>
              <a:rPr lang="en-IN" sz="3200" dirty="0"/>
              <a:t>ADVANTAGES OF NAVRAAH</a:t>
            </a:r>
            <a:endParaRPr sz="3000" b="1" dirty="0">
              <a:solidFill>
                <a:schemeClr val="dk1"/>
              </a:solidFill>
              <a:latin typeface="Times New Roman"/>
              <a:ea typeface="Times New Roman"/>
              <a:cs typeface="Times New Roman"/>
              <a:sym typeface="Times New Roman"/>
            </a:endParaRPr>
          </a:p>
        </p:txBody>
      </p:sp>
      <p:sp>
        <p:nvSpPr>
          <p:cNvPr id="197" name="Google Shape;197;p30">
            <a:extLst>
              <a:ext uri="{FF2B5EF4-FFF2-40B4-BE49-F238E27FC236}">
                <a16:creationId xmlns:a16="http://schemas.microsoft.com/office/drawing/2014/main" id="{0B9667E1-A97B-5F9A-40AF-85B572C5CC77}"/>
              </a:ext>
            </a:extLst>
          </p:cNvPr>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5</a:t>
            </a:r>
            <a:endParaRPr sz="1400">
              <a:solidFill>
                <a:schemeClr val="lt1"/>
              </a:solidFill>
              <a:latin typeface="Arial"/>
              <a:ea typeface="Arial"/>
              <a:cs typeface="Arial"/>
              <a:sym typeface="Arial"/>
            </a:endParaRPr>
          </a:p>
        </p:txBody>
      </p:sp>
      <p:sp>
        <p:nvSpPr>
          <p:cNvPr id="7" name="Rectangle 1">
            <a:extLst>
              <a:ext uri="{FF2B5EF4-FFF2-40B4-BE49-F238E27FC236}">
                <a16:creationId xmlns:a16="http://schemas.microsoft.com/office/drawing/2014/main" id="{FF357265-5A33-BA2E-81F3-D4FC4E619051}"/>
              </a:ext>
            </a:extLst>
          </p:cNvPr>
          <p:cNvSpPr txBox="1">
            <a:spLocks noChangeArrowheads="1"/>
          </p:cNvSpPr>
          <p:nvPr/>
        </p:nvSpPr>
        <p:spPr bwMode="auto">
          <a:xfrm>
            <a:off x="1270309" y="1798489"/>
            <a:ext cx="660338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dirty="0"/>
              <a:t>The advantages of NAVRAAH include:</a:t>
            </a:r>
          </a:p>
          <a:p>
            <a:r>
              <a:rPr lang="en-US" sz="1800" dirty="0"/>
              <a:t>• Affordable and portable design</a:t>
            </a:r>
            <a:br>
              <a:rPr lang="en-US" sz="1800" dirty="0"/>
            </a:br>
            <a:r>
              <a:rPr lang="en-US" sz="1800" dirty="0"/>
              <a:t>• Real-time navigation assistance</a:t>
            </a:r>
            <a:br>
              <a:rPr lang="en-US" sz="1800" dirty="0"/>
            </a:br>
            <a:r>
              <a:rPr lang="en-US" sz="1800" dirty="0"/>
              <a:t>• Offline functionality</a:t>
            </a:r>
            <a:br>
              <a:rPr lang="en-US" sz="1800" dirty="0"/>
            </a:br>
            <a:r>
              <a:rPr lang="en-US" sz="1800" dirty="0"/>
              <a:t>• Easy to use and wearable</a:t>
            </a:r>
            <a:br>
              <a:rPr lang="en-US" sz="1800" dirty="0"/>
            </a:br>
            <a:r>
              <a:rPr lang="en-US" sz="1800" dirty="0"/>
              <a:t>• Enhances user independence and safety</a:t>
            </a:r>
          </a:p>
        </p:txBody>
      </p:sp>
    </p:spTree>
    <p:extLst>
      <p:ext uri="{BB962C8B-B14F-4D97-AF65-F5344CB8AC3E}">
        <p14:creationId xmlns:p14="http://schemas.microsoft.com/office/powerpoint/2010/main" val="139788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952F6E18-9061-7E8E-A29B-3C4690DB46D2}"/>
            </a:ext>
          </a:extLst>
        </p:cNvPr>
        <p:cNvGrpSpPr/>
        <p:nvPr/>
      </p:nvGrpSpPr>
      <p:grpSpPr>
        <a:xfrm>
          <a:off x="0" y="0"/>
          <a:ext cx="0" cy="0"/>
          <a:chOff x="0" y="0"/>
          <a:chExt cx="0" cy="0"/>
        </a:xfrm>
      </p:grpSpPr>
      <p:sp>
        <p:nvSpPr>
          <p:cNvPr id="191" name="Google Shape;191;p30">
            <a:extLst>
              <a:ext uri="{FF2B5EF4-FFF2-40B4-BE49-F238E27FC236}">
                <a16:creationId xmlns:a16="http://schemas.microsoft.com/office/drawing/2014/main" id="{4FB5240F-B6E5-2E7B-EECA-59FA9D794DA2}"/>
              </a:ext>
            </a:extLst>
          </p:cNvPr>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2" name="Google Shape;192;p30">
            <a:extLst>
              <a:ext uri="{FF2B5EF4-FFF2-40B4-BE49-F238E27FC236}">
                <a16:creationId xmlns:a16="http://schemas.microsoft.com/office/drawing/2014/main" id="{E48D0FF8-5C74-8486-2C96-F4D57B8D8F2E}"/>
              </a:ext>
            </a:extLst>
          </p:cNvPr>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3" name="Google Shape;193;p30">
            <a:extLst>
              <a:ext uri="{FF2B5EF4-FFF2-40B4-BE49-F238E27FC236}">
                <a16:creationId xmlns:a16="http://schemas.microsoft.com/office/drawing/2014/main" id="{4B497E13-EFC3-BE61-77A1-7C5FE1627331}"/>
              </a:ext>
            </a:extLst>
          </p:cNvPr>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4" name="Google Shape;194;p30">
            <a:extLst>
              <a:ext uri="{FF2B5EF4-FFF2-40B4-BE49-F238E27FC236}">
                <a16:creationId xmlns:a16="http://schemas.microsoft.com/office/drawing/2014/main" id="{7A4538E5-C099-648F-74FD-294AF50156DE}"/>
              </a:ext>
            </a:extLst>
          </p:cNvPr>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5" name="Google Shape;195;p30">
            <a:extLst>
              <a:ext uri="{FF2B5EF4-FFF2-40B4-BE49-F238E27FC236}">
                <a16:creationId xmlns:a16="http://schemas.microsoft.com/office/drawing/2014/main" id="{77CCBD61-7A70-12B8-0C62-7FF755F6FFCF}"/>
              </a:ext>
            </a:extLst>
          </p:cNvPr>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6" name="Google Shape;196;p30">
            <a:extLst>
              <a:ext uri="{FF2B5EF4-FFF2-40B4-BE49-F238E27FC236}">
                <a16:creationId xmlns:a16="http://schemas.microsoft.com/office/drawing/2014/main" id="{D08C5ED9-CB86-253D-1F4E-CB3134829D58}"/>
              </a:ext>
            </a:extLst>
          </p:cNvPr>
          <p:cNvSpPr txBox="1"/>
          <p:nvPr/>
        </p:nvSpPr>
        <p:spPr>
          <a:xfrm>
            <a:off x="-8850" y="164450"/>
            <a:ext cx="5580900" cy="561662"/>
          </a:xfrm>
          <a:prstGeom prst="rect">
            <a:avLst/>
          </a:prstGeom>
          <a:noFill/>
          <a:ln>
            <a:noFill/>
          </a:ln>
        </p:spPr>
        <p:txBody>
          <a:bodyPr spcFirstLastPara="1" wrap="square" lIns="68575" tIns="34275" rIns="68575" bIns="34275" anchor="t" anchorCtr="0">
            <a:spAutoFit/>
          </a:bodyPr>
          <a:lstStyle/>
          <a:p>
            <a:pPr lvl="0"/>
            <a:r>
              <a:rPr lang="en-IN" sz="3200" dirty="0"/>
              <a:t>LIMITATIONS OF NAVRAAH</a:t>
            </a:r>
            <a:endParaRPr sz="3000" b="1" dirty="0">
              <a:solidFill>
                <a:schemeClr val="dk1"/>
              </a:solidFill>
              <a:latin typeface="Times New Roman"/>
              <a:ea typeface="Times New Roman"/>
              <a:cs typeface="Times New Roman"/>
              <a:sym typeface="Times New Roman"/>
            </a:endParaRPr>
          </a:p>
        </p:txBody>
      </p:sp>
      <p:sp>
        <p:nvSpPr>
          <p:cNvPr id="197" name="Google Shape;197;p30">
            <a:extLst>
              <a:ext uri="{FF2B5EF4-FFF2-40B4-BE49-F238E27FC236}">
                <a16:creationId xmlns:a16="http://schemas.microsoft.com/office/drawing/2014/main" id="{7B59B68F-C450-C4B4-E4CF-C17A05146680}"/>
              </a:ext>
            </a:extLst>
          </p:cNvPr>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5</a:t>
            </a:r>
            <a:endParaRPr sz="1400">
              <a:solidFill>
                <a:schemeClr val="lt1"/>
              </a:solidFill>
              <a:latin typeface="Arial"/>
              <a:ea typeface="Arial"/>
              <a:cs typeface="Arial"/>
              <a:sym typeface="Arial"/>
            </a:endParaRPr>
          </a:p>
        </p:txBody>
      </p:sp>
      <p:sp>
        <p:nvSpPr>
          <p:cNvPr id="7" name="Rectangle 1">
            <a:extLst>
              <a:ext uri="{FF2B5EF4-FFF2-40B4-BE49-F238E27FC236}">
                <a16:creationId xmlns:a16="http://schemas.microsoft.com/office/drawing/2014/main" id="{B118B19D-68B4-2BF7-495A-1A24FCE0F44B}"/>
              </a:ext>
            </a:extLst>
          </p:cNvPr>
          <p:cNvSpPr txBox="1">
            <a:spLocks noChangeArrowheads="1"/>
          </p:cNvSpPr>
          <p:nvPr/>
        </p:nvSpPr>
        <p:spPr bwMode="auto">
          <a:xfrm>
            <a:off x="1270309" y="2075487"/>
            <a:ext cx="660338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dirty="0"/>
              <a:t>Despite its advantages, NAVRAAH has certain limitations:</a:t>
            </a:r>
          </a:p>
          <a:p>
            <a:r>
              <a:rPr lang="en-US" sz="1800" dirty="0"/>
              <a:t>• Reduced accuracy in low-light conditions</a:t>
            </a:r>
            <a:br>
              <a:rPr lang="en-US" sz="1800" dirty="0"/>
            </a:br>
            <a:r>
              <a:rPr lang="en-US" sz="1800" dirty="0"/>
              <a:t>• Limited object categories</a:t>
            </a:r>
            <a:br>
              <a:rPr lang="en-US" sz="1800" dirty="0"/>
            </a:br>
            <a:r>
              <a:rPr lang="en-US" sz="1800" dirty="0"/>
              <a:t>• Reactive navigation without route planning</a:t>
            </a:r>
          </a:p>
        </p:txBody>
      </p:sp>
    </p:spTree>
    <p:extLst>
      <p:ext uri="{BB962C8B-B14F-4D97-AF65-F5344CB8AC3E}">
        <p14:creationId xmlns:p14="http://schemas.microsoft.com/office/powerpoint/2010/main" val="322190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3FF5D0CE-FAFA-6629-44BC-0E2001A3FE36}"/>
            </a:ext>
          </a:extLst>
        </p:cNvPr>
        <p:cNvGrpSpPr/>
        <p:nvPr/>
      </p:nvGrpSpPr>
      <p:grpSpPr>
        <a:xfrm>
          <a:off x="0" y="0"/>
          <a:ext cx="0" cy="0"/>
          <a:chOff x="0" y="0"/>
          <a:chExt cx="0" cy="0"/>
        </a:xfrm>
      </p:grpSpPr>
      <p:sp>
        <p:nvSpPr>
          <p:cNvPr id="191" name="Google Shape;191;p30">
            <a:extLst>
              <a:ext uri="{FF2B5EF4-FFF2-40B4-BE49-F238E27FC236}">
                <a16:creationId xmlns:a16="http://schemas.microsoft.com/office/drawing/2014/main" id="{7579A83A-23BB-193F-9DBC-593C5F82E601}"/>
              </a:ext>
            </a:extLst>
          </p:cNvPr>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2" name="Google Shape;192;p30">
            <a:extLst>
              <a:ext uri="{FF2B5EF4-FFF2-40B4-BE49-F238E27FC236}">
                <a16:creationId xmlns:a16="http://schemas.microsoft.com/office/drawing/2014/main" id="{120995DC-6483-48C3-102C-AC9E6F8645C4}"/>
              </a:ext>
            </a:extLst>
          </p:cNvPr>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3" name="Google Shape;193;p30">
            <a:extLst>
              <a:ext uri="{FF2B5EF4-FFF2-40B4-BE49-F238E27FC236}">
                <a16:creationId xmlns:a16="http://schemas.microsoft.com/office/drawing/2014/main" id="{AB605A2C-3414-1B4C-74D4-FC6BF8AFB198}"/>
              </a:ext>
            </a:extLst>
          </p:cNvPr>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4" name="Google Shape;194;p30">
            <a:extLst>
              <a:ext uri="{FF2B5EF4-FFF2-40B4-BE49-F238E27FC236}">
                <a16:creationId xmlns:a16="http://schemas.microsoft.com/office/drawing/2014/main" id="{690E9921-FD96-E756-0A02-D0F6810FEEDE}"/>
              </a:ext>
            </a:extLst>
          </p:cNvPr>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5" name="Google Shape;195;p30">
            <a:extLst>
              <a:ext uri="{FF2B5EF4-FFF2-40B4-BE49-F238E27FC236}">
                <a16:creationId xmlns:a16="http://schemas.microsoft.com/office/drawing/2014/main" id="{A6F789A7-5AF7-4163-C4DC-BAF9E49D0AA9}"/>
              </a:ext>
            </a:extLst>
          </p:cNvPr>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6" name="Google Shape;196;p30">
            <a:extLst>
              <a:ext uri="{FF2B5EF4-FFF2-40B4-BE49-F238E27FC236}">
                <a16:creationId xmlns:a16="http://schemas.microsoft.com/office/drawing/2014/main" id="{54C324CC-BFA3-84BC-60D6-28A19362D3C4}"/>
              </a:ext>
            </a:extLst>
          </p:cNvPr>
          <p:cNvSpPr txBox="1"/>
          <p:nvPr/>
        </p:nvSpPr>
        <p:spPr>
          <a:xfrm>
            <a:off x="-8850" y="164450"/>
            <a:ext cx="6283270" cy="561662"/>
          </a:xfrm>
          <a:prstGeom prst="rect">
            <a:avLst/>
          </a:prstGeom>
          <a:noFill/>
          <a:ln>
            <a:noFill/>
          </a:ln>
        </p:spPr>
        <p:txBody>
          <a:bodyPr spcFirstLastPara="1" wrap="square" lIns="68575" tIns="34275" rIns="68575" bIns="34275" anchor="t" anchorCtr="0">
            <a:spAutoFit/>
          </a:bodyPr>
          <a:lstStyle/>
          <a:p>
            <a:pPr lvl="0"/>
            <a:r>
              <a:rPr lang="en-IN" sz="3200" dirty="0"/>
              <a:t>FUTURE SCOPE OF NAVRAAH</a:t>
            </a:r>
            <a:endParaRPr sz="3000" b="1" dirty="0">
              <a:solidFill>
                <a:schemeClr val="dk1"/>
              </a:solidFill>
              <a:latin typeface="Times New Roman"/>
              <a:ea typeface="Times New Roman"/>
              <a:cs typeface="Times New Roman"/>
              <a:sym typeface="Times New Roman"/>
            </a:endParaRPr>
          </a:p>
        </p:txBody>
      </p:sp>
      <p:sp>
        <p:nvSpPr>
          <p:cNvPr id="197" name="Google Shape;197;p30">
            <a:extLst>
              <a:ext uri="{FF2B5EF4-FFF2-40B4-BE49-F238E27FC236}">
                <a16:creationId xmlns:a16="http://schemas.microsoft.com/office/drawing/2014/main" id="{E8800939-0D2E-C1F4-207E-24E4D6D93BBE}"/>
              </a:ext>
            </a:extLst>
          </p:cNvPr>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5</a:t>
            </a:r>
            <a:endParaRPr sz="1400">
              <a:solidFill>
                <a:schemeClr val="lt1"/>
              </a:solidFill>
              <a:latin typeface="Arial"/>
              <a:ea typeface="Arial"/>
              <a:cs typeface="Arial"/>
              <a:sym typeface="Arial"/>
            </a:endParaRPr>
          </a:p>
        </p:txBody>
      </p:sp>
      <p:sp>
        <p:nvSpPr>
          <p:cNvPr id="7" name="Rectangle 1">
            <a:extLst>
              <a:ext uri="{FF2B5EF4-FFF2-40B4-BE49-F238E27FC236}">
                <a16:creationId xmlns:a16="http://schemas.microsoft.com/office/drawing/2014/main" id="{1FD939BF-4889-E3CA-780D-50504C6D3A4F}"/>
              </a:ext>
            </a:extLst>
          </p:cNvPr>
          <p:cNvSpPr txBox="1">
            <a:spLocks noChangeArrowheads="1"/>
          </p:cNvSpPr>
          <p:nvPr/>
        </p:nvSpPr>
        <p:spPr bwMode="auto">
          <a:xfrm>
            <a:off x="1270309" y="1798489"/>
            <a:ext cx="660338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dirty="0"/>
              <a:t>Future enhancements to NAVRAAH may include:</a:t>
            </a:r>
          </a:p>
          <a:p>
            <a:r>
              <a:rPr lang="en-US" sz="1800" dirty="0"/>
              <a:t>• GPS-based outdoor navigation</a:t>
            </a:r>
            <a:br>
              <a:rPr lang="en-US" sz="1800" dirty="0"/>
            </a:br>
            <a:r>
              <a:rPr lang="en-US" sz="1800" dirty="0"/>
              <a:t>• Improved depth sensing technology</a:t>
            </a:r>
            <a:br>
              <a:rPr lang="en-US" sz="1800" dirty="0"/>
            </a:br>
            <a:r>
              <a:rPr lang="en-US" sz="1800" dirty="0"/>
              <a:t>• Mobile application integration</a:t>
            </a:r>
            <a:br>
              <a:rPr lang="en-US" sz="1800" dirty="0"/>
            </a:br>
            <a:r>
              <a:rPr lang="en-US" sz="1800" dirty="0"/>
              <a:t>• Advanced AI model optimization</a:t>
            </a:r>
            <a:br>
              <a:rPr lang="en-US" sz="1800" dirty="0"/>
            </a:br>
            <a:r>
              <a:rPr lang="en-US" sz="1800" dirty="0"/>
              <a:t>• Improved battery efficiency</a:t>
            </a:r>
          </a:p>
        </p:txBody>
      </p:sp>
    </p:spTree>
    <p:extLst>
      <p:ext uri="{BB962C8B-B14F-4D97-AF65-F5344CB8AC3E}">
        <p14:creationId xmlns:p14="http://schemas.microsoft.com/office/powerpoint/2010/main" val="1248089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5"/>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253" name="Google Shape;253;p35"/>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254" name="Google Shape;254;p35"/>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255" name="Google Shape;255;p35"/>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256" name="Google Shape;256;p35"/>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257" name="Google Shape;257;p35"/>
          <p:cNvSpPr txBox="1"/>
          <p:nvPr/>
        </p:nvSpPr>
        <p:spPr>
          <a:xfrm>
            <a:off x="-8850" y="164450"/>
            <a:ext cx="9144000" cy="531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3000" b="1" dirty="0">
                <a:solidFill>
                  <a:schemeClr val="dk1"/>
                </a:solidFill>
                <a:latin typeface="Times New Roman"/>
                <a:ea typeface="Times New Roman"/>
                <a:cs typeface="Times New Roman"/>
                <a:sym typeface="Times New Roman"/>
              </a:rPr>
              <a:t>Project Timeline</a:t>
            </a:r>
            <a:endParaRPr sz="3000" b="1" dirty="0">
              <a:solidFill>
                <a:schemeClr val="dk1"/>
              </a:solidFill>
              <a:latin typeface="Times New Roman"/>
              <a:ea typeface="Times New Roman"/>
              <a:cs typeface="Times New Roman"/>
              <a:sym typeface="Times New Roman"/>
            </a:endParaRPr>
          </a:p>
        </p:txBody>
      </p:sp>
      <p:sp>
        <p:nvSpPr>
          <p:cNvPr id="258" name="Google Shape;258;p35"/>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10</a:t>
            </a:r>
            <a:endParaRPr sz="1400" dirty="0">
              <a:solidFill>
                <a:schemeClr val="lt1"/>
              </a:solidFill>
              <a:latin typeface="Arial"/>
              <a:ea typeface="Arial"/>
              <a:cs typeface="Arial"/>
              <a:sym typeface="Arial"/>
            </a:endParaRPr>
          </a:p>
        </p:txBody>
      </p:sp>
      <p:graphicFrame>
        <p:nvGraphicFramePr>
          <p:cNvPr id="259" name="Google Shape;259;p35"/>
          <p:cNvGraphicFramePr/>
          <p:nvPr>
            <p:extLst>
              <p:ext uri="{D42A27DB-BD31-4B8C-83A1-F6EECF244321}">
                <p14:modId xmlns:p14="http://schemas.microsoft.com/office/powerpoint/2010/main" val="2720704669"/>
              </p:ext>
            </p:extLst>
          </p:nvPr>
        </p:nvGraphicFramePr>
        <p:xfrm>
          <a:off x="952500" y="1619250"/>
          <a:ext cx="7239000" cy="2590620"/>
        </p:xfrm>
        <a:graphic>
          <a:graphicData uri="http://schemas.openxmlformats.org/drawingml/2006/table">
            <a:tbl>
              <a:tblPr>
                <a:noFill/>
                <a:tableStyleId>{8B16C3E8-A3B4-4CAE-A72B-9407BAFACDD6}</a:tableStyleId>
              </a:tblPr>
              <a:tblGrid>
                <a:gridCol w="1520625">
                  <a:extLst>
                    <a:ext uri="{9D8B030D-6E8A-4147-A177-3AD203B41FA5}">
                      <a16:colId xmlns:a16="http://schemas.microsoft.com/office/drawing/2014/main" val="20000"/>
                    </a:ext>
                  </a:extLst>
                </a:gridCol>
                <a:gridCol w="5718375">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b="1">
                          <a:solidFill>
                            <a:schemeClr val="lt1"/>
                          </a:solidFill>
                          <a:latin typeface="Poppins"/>
                          <a:ea typeface="Poppins"/>
                          <a:cs typeface="Poppins"/>
                          <a:sym typeface="Poppins"/>
                        </a:rPr>
                        <a:t>Week</a:t>
                      </a:r>
                      <a:endParaRPr b="1" dirty="0">
                        <a:solidFill>
                          <a:schemeClr val="lt1"/>
                        </a:solidFill>
                        <a:latin typeface="Poppins"/>
                        <a:ea typeface="Poppins"/>
                        <a:cs typeface="Poppins"/>
                        <a:sym typeface="Poppins"/>
                      </a:endParaRPr>
                    </a:p>
                  </a:txBody>
                  <a:tcPr marL="91425" marR="91425" marT="91425" marB="91425">
                    <a:lnB w="9525" cap="flat" cmpd="sng">
                      <a:solidFill>
                        <a:schemeClr val="lt1"/>
                      </a:solidFill>
                      <a:prstDash val="solid"/>
                      <a:round/>
                      <a:headEnd type="none" w="sm" len="sm"/>
                      <a:tailEnd type="none" w="sm" len="sm"/>
                    </a:lnB>
                    <a:solidFill>
                      <a:srgbClr val="E21E23"/>
                    </a:solidFill>
                  </a:tcPr>
                </a:tc>
                <a:tc>
                  <a:txBody>
                    <a:bodyPr/>
                    <a:lstStyle/>
                    <a:p>
                      <a:pPr marL="0" lvl="0" indent="0" algn="ctr" rtl="0">
                        <a:spcBef>
                          <a:spcPts val="0"/>
                        </a:spcBef>
                        <a:spcAft>
                          <a:spcPts val="0"/>
                        </a:spcAft>
                        <a:buNone/>
                      </a:pPr>
                      <a:r>
                        <a:rPr lang="en" b="1" dirty="0">
                          <a:solidFill>
                            <a:schemeClr val="lt1"/>
                          </a:solidFill>
                          <a:latin typeface="Poppins"/>
                          <a:ea typeface="Poppins"/>
                          <a:cs typeface="Poppins"/>
                          <a:sym typeface="Poppins"/>
                        </a:rPr>
                        <a:t>Task</a:t>
                      </a:r>
                      <a:endParaRPr b="1" dirty="0">
                        <a:solidFill>
                          <a:schemeClr val="lt1"/>
                        </a:solidFill>
                        <a:latin typeface="Poppins"/>
                        <a:ea typeface="Poppins"/>
                        <a:cs typeface="Poppins"/>
                        <a:sym typeface="Poppins"/>
                      </a:endParaRPr>
                    </a:p>
                  </a:txBody>
                  <a:tcPr marL="91425" marR="91425" marT="91425" marB="91425">
                    <a:lnB w="9525" cap="flat" cmpd="sng">
                      <a:solidFill>
                        <a:schemeClr val="lt1"/>
                      </a:solidFill>
                      <a:prstDash val="solid"/>
                      <a:round/>
                      <a:headEnd type="none" w="sm" len="sm"/>
                      <a:tailEnd type="none" w="sm" len="sm"/>
                    </a:lnB>
                    <a:solidFill>
                      <a:srgbClr val="341BF1"/>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a:latin typeface="Poppins"/>
                          <a:ea typeface="Poppins"/>
                          <a:cs typeface="Poppins"/>
                          <a:sym typeface="Poppins"/>
                        </a:rPr>
                        <a:t>Weeks 1-3</a:t>
                      </a:r>
                      <a:endParaRPr dirty="0">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06666"/>
                    </a:solidFill>
                  </a:tcPr>
                </a:tc>
                <a:tc>
                  <a:txBody>
                    <a:bodyPr/>
                    <a:lstStyle/>
                    <a:p>
                      <a:pPr marL="0" lvl="0" indent="0" algn="ctr" rtl="0">
                        <a:spcBef>
                          <a:spcPts val="0"/>
                        </a:spcBef>
                        <a:spcAft>
                          <a:spcPts val="0"/>
                        </a:spcAft>
                        <a:buNone/>
                      </a:pPr>
                      <a:r>
                        <a:rPr lang="en-IN" dirty="0"/>
                        <a:t>Problem identification, requirement analysis, and literature survey</a:t>
                      </a:r>
                      <a:endParaRPr dirty="0">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FA8DC"/>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dirty="0">
                          <a:latin typeface="Poppins"/>
                          <a:ea typeface="Poppins"/>
                          <a:cs typeface="Poppins"/>
                          <a:sym typeface="Poppins"/>
                        </a:rPr>
                        <a:t>Weeks 4-5</a:t>
                      </a:r>
                      <a:endParaRPr dirty="0">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A9999"/>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Hardware selection, component procurement, and system design</a:t>
                      </a: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FC5E8"/>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dirty="0">
                          <a:solidFill>
                            <a:schemeClr val="dk1"/>
                          </a:solidFill>
                          <a:latin typeface="Poppins"/>
                          <a:ea typeface="Poppins"/>
                          <a:cs typeface="Poppins"/>
                          <a:sym typeface="Poppins"/>
                        </a:rPr>
                        <a:t>Weeks 6-9</a:t>
                      </a:r>
                      <a:endParaRPr dirty="0">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06666"/>
                    </a:solidFill>
                  </a:tcPr>
                </a:tc>
                <a:tc>
                  <a:txBody>
                    <a:bodyPr/>
                    <a:lstStyle/>
                    <a:p>
                      <a:pPr marL="0" lvl="0" indent="0" algn="ctr" rtl="0">
                        <a:spcBef>
                          <a:spcPts val="0"/>
                        </a:spcBef>
                        <a:spcAft>
                          <a:spcPts val="0"/>
                        </a:spcAft>
                        <a:buNone/>
                      </a:pPr>
                      <a:r>
                        <a:rPr lang="en-US" dirty="0"/>
                        <a:t>Camera setup, sensor integration, and Raspberry Pi configuration ; </a:t>
                      </a:r>
                      <a:br>
                        <a:rPr lang="en-US" dirty="0"/>
                      </a:br>
                      <a:r>
                        <a:rPr lang="en-US" dirty="0"/>
                        <a:t>Implementation of object detection and distance measurement logic</a:t>
                      </a:r>
                      <a:endParaRPr dirty="0">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FA8DC"/>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a:solidFill>
                            <a:schemeClr val="dk1"/>
                          </a:solidFill>
                          <a:latin typeface="Poppins"/>
                          <a:ea typeface="Poppins"/>
                          <a:cs typeface="Poppins"/>
                          <a:sym typeface="Poppins"/>
                        </a:rPr>
                        <a:t>Weeks 10-11</a:t>
                      </a:r>
                      <a:endParaRPr dirty="0">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A9999"/>
                    </a:solidFill>
                  </a:tcPr>
                </a:tc>
                <a:tc>
                  <a:txBody>
                    <a:bodyPr/>
                    <a:lstStyle/>
                    <a:p>
                      <a:pPr marL="0" lvl="0" indent="0" algn="ctr" rtl="0">
                        <a:spcBef>
                          <a:spcPts val="0"/>
                        </a:spcBef>
                        <a:spcAft>
                          <a:spcPts val="0"/>
                        </a:spcAft>
                        <a:buNone/>
                      </a:pPr>
                      <a:r>
                        <a:rPr lang="en-US" dirty="0"/>
                        <a:t>Voice feedback, vibration alerts, and system integration</a:t>
                      </a:r>
                      <a:endParaRPr dirty="0">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FC5E8"/>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a:solidFill>
                            <a:schemeClr val="dk1"/>
                          </a:solidFill>
                          <a:latin typeface="Poppins"/>
                          <a:ea typeface="Poppins"/>
                          <a:cs typeface="Poppins"/>
                          <a:sym typeface="Poppins"/>
                        </a:rPr>
                        <a:t>Weeks 12-14</a:t>
                      </a:r>
                      <a:endParaRPr dirty="0">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06666"/>
                    </a:solidFill>
                  </a:tcPr>
                </a:tc>
                <a:tc>
                  <a:txBody>
                    <a:bodyPr/>
                    <a:lstStyle/>
                    <a:p>
                      <a:pPr marL="0" lvl="0" indent="0" algn="ctr" rtl="0">
                        <a:spcBef>
                          <a:spcPts val="0"/>
                        </a:spcBef>
                        <a:spcAft>
                          <a:spcPts val="0"/>
                        </a:spcAft>
                        <a:buNone/>
                      </a:pPr>
                      <a:r>
                        <a:rPr lang="en-US" dirty="0"/>
                        <a:t>Testing, optimization, and performance evaluation</a:t>
                      </a:r>
                      <a:endParaRPr dirty="0">
                        <a:latin typeface="Poppins"/>
                        <a:ea typeface="Poppins"/>
                        <a:cs typeface="Poppins"/>
                        <a:sym typeface="Poppins"/>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FA8DC"/>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23763734-B16E-AEA8-7187-28E58B632640}"/>
            </a:ext>
          </a:extLst>
        </p:cNvPr>
        <p:cNvGrpSpPr/>
        <p:nvPr/>
      </p:nvGrpSpPr>
      <p:grpSpPr>
        <a:xfrm>
          <a:off x="0" y="0"/>
          <a:ext cx="0" cy="0"/>
          <a:chOff x="0" y="0"/>
          <a:chExt cx="0" cy="0"/>
        </a:xfrm>
      </p:grpSpPr>
      <p:sp>
        <p:nvSpPr>
          <p:cNvPr id="191" name="Google Shape;191;p30">
            <a:extLst>
              <a:ext uri="{FF2B5EF4-FFF2-40B4-BE49-F238E27FC236}">
                <a16:creationId xmlns:a16="http://schemas.microsoft.com/office/drawing/2014/main" id="{7E5EB6E2-BA40-858A-362D-9804ACD78CAE}"/>
              </a:ext>
            </a:extLst>
          </p:cNvPr>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2" name="Google Shape;192;p30">
            <a:extLst>
              <a:ext uri="{FF2B5EF4-FFF2-40B4-BE49-F238E27FC236}">
                <a16:creationId xmlns:a16="http://schemas.microsoft.com/office/drawing/2014/main" id="{00E06930-1219-862B-ADF2-2A8B2CD48D7A}"/>
              </a:ext>
            </a:extLst>
          </p:cNvPr>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3" name="Google Shape;193;p30">
            <a:extLst>
              <a:ext uri="{FF2B5EF4-FFF2-40B4-BE49-F238E27FC236}">
                <a16:creationId xmlns:a16="http://schemas.microsoft.com/office/drawing/2014/main" id="{4B7C45B0-79CE-B8E8-EE87-6849DCC8D920}"/>
              </a:ext>
            </a:extLst>
          </p:cNvPr>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4" name="Google Shape;194;p30">
            <a:extLst>
              <a:ext uri="{FF2B5EF4-FFF2-40B4-BE49-F238E27FC236}">
                <a16:creationId xmlns:a16="http://schemas.microsoft.com/office/drawing/2014/main" id="{035432B8-CE0E-CE10-5717-930C913B229C}"/>
              </a:ext>
            </a:extLst>
          </p:cNvPr>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5" name="Google Shape;195;p30">
            <a:extLst>
              <a:ext uri="{FF2B5EF4-FFF2-40B4-BE49-F238E27FC236}">
                <a16:creationId xmlns:a16="http://schemas.microsoft.com/office/drawing/2014/main" id="{D26D4C76-61B3-D765-B911-42A996A77AB5}"/>
              </a:ext>
            </a:extLst>
          </p:cNvPr>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6" name="Google Shape;196;p30">
            <a:extLst>
              <a:ext uri="{FF2B5EF4-FFF2-40B4-BE49-F238E27FC236}">
                <a16:creationId xmlns:a16="http://schemas.microsoft.com/office/drawing/2014/main" id="{A3794F89-267B-48C9-B531-E1589B527F33}"/>
              </a:ext>
            </a:extLst>
          </p:cNvPr>
          <p:cNvSpPr txBox="1"/>
          <p:nvPr/>
        </p:nvSpPr>
        <p:spPr>
          <a:xfrm>
            <a:off x="-8850" y="164450"/>
            <a:ext cx="5580900" cy="561662"/>
          </a:xfrm>
          <a:prstGeom prst="rect">
            <a:avLst/>
          </a:prstGeom>
          <a:noFill/>
          <a:ln>
            <a:noFill/>
          </a:ln>
        </p:spPr>
        <p:txBody>
          <a:bodyPr spcFirstLastPara="1" wrap="square" lIns="68575" tIns="34275" rIns="68575" bIns="34275" anchor="t" anchorCtr="0">
            <a:spAutoFit/>
          </a:bodyPr>
          <a:lstStyle/>
          <a:p>
            <a:pPr lvl="0"/>
            <a:r>
              <a:rPr lang="en-IN" sz="3200" dirty="0"/>
              <a:t>CONCLUSION</a:t>
            </a:r>
            <a:endParaRPr sz="3000" b="1" dirty="0">
              <a:solidFill>
                <a:schemeClr val="dk1"/>
              </a:solidFill>
              <a:latin typeface="Times New Roman"/>
              <a:ea typeface="Times New Roman"/>
              <a:cs typeface="Times New Roman"/>
              <a:sym typeface="Times New Roman"/>
            </a:endParaRPr>
          </a:p>
        </p:txBody>
      </p:sp>
      <p:sp>
        <p:nvSpPr>
          <p:cNvPr id="197" name="Google Shape;197;p30">
            <a:extLst>
              <a:ext uri="{FF2B5EF4-FFF2-40B4-BE49-F238E27FC236}">
                <a16:creationId xmlns:a16="http://schemas.microsoft.com/office/drawing/2014/main" id="{245966D5-2F4F-3B9C-AEF9-A12BC5574263}"/>
              </a:ext>
            </a:extLst>
          </p:cNvPr>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5</a:t>
            </a:r>
            <a:endParaRPr sz="1400">
              <a:solidFill>
                <a:schemeClr val="lt1"/>
              </a:solidFill>
              <a:latin typeface="Arial"/>
              <a:ea typeface="Arial"/>
              <a:cs typeface="Arial"/>
              <a:sym typeface="Arial"/>
            </a:endParaRPr>
          </a:p>
        </p:txBody>
      </p:sp>
      <p:sp>
        <p:nvSpPr>
          <p:cNvPr id="7" name="Rectangle 1">
            <a:extLst>
              <a:ext uri="{FF2B5EF4-FFF2-40B4-BE49-F238E27FC236}">
                <a16:creationId xmlns:a16="http://schemas.microsoft.com/office/drawing/2014/main" id="{88CB816E-CBCE-85E1-C1E3-D0A7CE9BF0FE}"/>
              </a:ext>
            </a:extLst>
          </p:cNvPr>
          <p:cNvSpPr txBox="1">
            <a:spLocks noChangeArrowheads="1"/>
          </p:cNvSpPr>
          <p:nvPr/>
        </p:nvSpPr>
        <p:spPr bwMode="auto">
          <a:xfrm>
            <a:off x="1270309" y="1798489"/>
            <a:ext cx="660338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dirty="0"/>
              <a:t>N.A.V.R.A.A.H demonstrates how artificial intelligence and embedded systems can be effectively used to improve the mobility and safety of visually restricted individuals. By integrating computer vision, distance sensing, and audio feedback, the project provides a practical, affordable, and scalable assistive navigation solution.</a:t>
            </a:r>
          </a:p>
        </p:txBody>
      </p:sp>
    </p:spTree>
    <p:extLst>
      <p:ext uri="{BB962C8B-B14F-4D97-AF65-F5344CB8AC3E}">
        <p14:creationId xmlns:p14="http://schemas.microsoft.com/office/powerpoint/2010/main" val="3140681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6"/>
          <p:cNvSpPr/>
          <p:nvPr/>
        </p:nvSpPr>
        <p:spPr>
          <a:xfrm>
            <a:off x="-275" y="162000"/>
            <a:ext cx="9153000" cy="588000"/>
          </a:xfrm>
          <a:prstGeom prst="rect">
            <a:avLst/>
          </a:prstGeom>
          <a:solidFill>
            <a:srgbClr val="D9E5F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265" name="Google Shape;265;p36"/>
          <p:cNvSpPr/>
          <p:nvPr/>
        </p:nvSpPr>
        <p:spPr>
          <a:xfrm>
            <a:off x="4160520" y="0"/>
            <a:ext cx="4995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266" name="Google Shape;266;p36"/>
          <p:cNvSpPr/>
          <p:nvPr/>
        </p:nvSpPr>
        <p:spPr>
          <a:xfrm>
            <a:off x="2858" y="0"/>
            <a:ext cx="4158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267" name="Google Shape;267;p36"/>
          <p:cNvSpPr/>
          <p:nvPr/>
        </p:nvSpPr>
        <p:spPr>
          <a:xfrm>
            <a:off x="4927108" y="4972928"/>
            <a:ext cx="4239000" cy="162000"/>
          </a:xfrm>
          <a:prstGeom prst="rect">
            <a:avLst/>
          </a:prstGeom>
          <a:solidFill>
            <a:srgbClr val="341B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268" name="Google Shape;268;p36"/>
          <p:cNvSpPr/>
          <p:nvPr/>
        </p:nvSpPr>
        <p:spPr>
          <a:xfrm>
            <a:off x="-8853" y="4972928"/>
            <a:ext cx="4941000" cy="162000"/>
          </a:xfrm>
          <a:prstGeom prst="rect">
            <a:avLst/>
          </a:prstGeom>
          <a:solidFill>
            <a:srgbClr val="FF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Arial"/>
              <a:ea typeface="Arial"/>
              <a:cs typeface="Arial"/>
              <a:sym typeface="Arial"/>
            </a:endParaRPr>
          </a:p>
        </p:txBody>
      </p:sp>
      <p:sp>
        <p:nvSpPr>
          <p:cNvPr id="269" name="Google Shape;269;p36"/>
          <p:cNvSpPr txBox="1"/>
          <p:nvPr/>
        </p:nvSpPr>
        <p:spPr>
          <a:xfrm>
            <a:off x="0" y="2040363"/>
            <a:ext cx="9144000" cy="10542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6400" b="1">
                <a:solidFill>
                  <a:srgbClr val="FF0000"/>
                </a:solidFill>
                <a:latin typeface="Times New Roman"/>
                <a:ea typeface="Times New Roman"/>
                <a:cs typeface="Times New Roman"/>
                <a:sym typeface="Times New Roman"/>
              </a:rPr>
              <a:t>THANK</a:t>
            </a:r>
            <a:r>
              <a:rPr lang="en" sz="6400" b="1">
                <a:solidFill>
                  <a:schemeClr val="dk1"/>
                </a:solidFill>
                <a:latin typeface="Times New Roman"/>
                <a:ea typeface="Times New Roman"/>
                <a:cs typeface="Times New Roman"/>
                <a:sym typeface="Times New Roman"/>
              </a:rPr>
              <a:t> </a:t>
            </a:r>
            <a:r>
              <a:rPr lang="en" sz="6400" b="1">
                <a:solidFill>
                  <a:srgbClr val="341BF1"/>
                </a:solidFill>
                <a:latin typeface="Times New Roman"/>
                <a:ea typeface="Times New Roman"/>
                <a:cs typeface="Times New Roman"/>
                <a:sym typeface="Times New Roman"/>
              </a:rPr>
              <a:t>YOU</a:t>
            </a:r>
            <a:endParaRPr sz="6400" b="1" dirty="0">
              <a:solidFill>
                <a:srgbClr val="341BF1"/>
              </a:solidFill>
              <a:latin typeface="Times New Roman"/>
              <a:ea typeface="Times New Roman"/>
              <a:cs typeface="Times New Roman"/>
              <a:sym typeface="Times New Roman"/>
            </a:endParaRPr>
          </a:p>
        </p:txBody>
      </p:sp>
      <p:sp>
        <p:nvSpPr>
          <p:cNvPr id="270" name="Google Shape;270;p36"/>
          <p:cNvSpPr txBox="1"/>
          <p:nvPr/>
        </p:nvSpPr>
        <p:spPr>
          <a:xfrm>
            <a:off x="8803958" y="4921958"/>
            <a:ext cx="33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a:solidFill>
                  <a:schemeClr val="lt1"/>
                </a:solidFill>
              </a:rPr>
              <a:t>11</a:t>
            </a:r>
            <a:endParaRPr sz="1400" dirty="0">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1161</Words>
  <Application>Microsoft Office PowerPoint</Application>
  <PresentationFormat>On-screen Show (16:9)</PresentationFormat>
  <Paragraphs>121</Paragraphs>
  <Slides>19</Slides>
  <Notes>19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Nunito Sans</vt:lpstr>
      <vt:lpstr>Times New Roman</vt:lpstr>
      <vt:lpstr>Play</vt:lpstr>
      <vt:lpstr>Poppins</vt:lpstr>
      <vt:lpstr>Arial</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Harsh Dev Jha</cp:lastModifiedBy>
  <cp:revision>55</cp:revision>
  <dcterms:modified xsi:type="dcterms:W3CDTF">2026-02-07T05:57:35Z</dcterms:modified>
</cp:coreProperties>
</file>